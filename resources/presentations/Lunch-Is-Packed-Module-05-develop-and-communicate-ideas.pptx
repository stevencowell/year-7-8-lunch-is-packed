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4882a87a5c7496b" /><Relationship Type="http://schemas.openxmlformats.org/officeDocument/2006/relationships/extended-properties" Target="/docProps/app.xml" Id="R2f94f0132d53445a" /><Relationship Type="http://schemas.openxmlformats.org/officeDocument/2006/relationships/officeDocument" Target="/ppt/presentation.xml" Id="Rd4b1f1df375648d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dc7b816f1ea4c51"/>
  </p:sldMasterIdLst>
  <p:notesMasterIdLst>
    <p:notesMasterId xmlns:r="http://schemas.openxmlformats.org/officeDocument/2006/relationships" r:id="Rf20098a4b5f749da"/>
  </p:notesMasterIdLst>
  <p:sldIdLst>
    <p:sldId xmlns:r="http://schemas.openxmlformats.org/officeDocument/2006/relationships" id="256" r:id="R0e47739c36194bcf"/>
    <p:sldId xmlns:r="http://schemas.openxmlformats.org/officeDocument/2006/relationships" id="257" r:id="R929874ae814a427b"/>
    <p:sldId xmlns:r="http://schemas.openxmlformats.org/officeDocument/2006/relationships" id="258" r:id="R3008e2dba3884974"/>
    <p:sldId xmlns:r="http://schemas.openxmlformats.org/officeDocument/2006/relationships" id="259" r:id="R67f1929cca4c496f"/>
    <p:sldId xmlns:r="http://schemas.openxmlformats.org/officeDocument/2006/relationships" id="260" r:id="Ra9edb4dc9f6a4ae0"/>
    <p:sldId xmlns:r="http://schemas.openxmlformats.org/officeDocument/2006/relationships" id="261" r:id="R34c59c40e5b64cc6"/>
    <p:sldId xmlns:r="http://schemas.openxmlformats.org/officeDocument/2006/relationships" id="262" r:id="R6792e1f857e3413d"/>
    <p:sldId xmlns:r="http://schemas.openxmlformats.org/officeDocument/2006/relationships" id="263" r:id="R9e61e51e98c4410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53d1902f3b94002" /><Relationship Type="http://schemas.openxmlformats.org/officeDocument/2006/relationships/slideMaster" Target="/ppt/slideMasters/slideMaster1.xml" Id="Redc7b816f1ea4c51" /><Relationship Type="http://schemas.openxmlformats.org/officeDocument/2006/relationships/notesMaster" Target="/ppt/notesMasters/notesMaster1.xml" Id="Rf20098a4b5f749da" /><Relationship Type="http://schemas.openxmlformats.org/officeDocument/2006/relationships/presProps" Target="/ppt/presProps.xml" Id="Rf006d62f68414a5f" /><Relationship Type="http://schemas.openxmlformats.org/officeDocument/2006/relationships/tableStyles" Target="/ppt/tableStyles.xml" Id="R0a10a8ca23054c65" /><Relationship Type="http://schemas.openxmlformats.org/officeDocument/2006/relationships/slide" Target="/ppt/slides/slide1.xml" Id="R0e47739c36194bcf" /><Relationship Type="http://schemas.openxmlformats.org/officeDocument/2006/relationships/slide" Target="/ppt/slides/slide2.xml" Id="R929874ae814a427b" /><Relationship Type="http://schemas.openxmlformats.org/officeDocument/2006/relationships/slide" Target="/ppt/slides/slide3.xml" Id="R3008e2dba3884974" /><Relationship Type="http://schemas.openxmlformats.org/officeDocument/2006/relationships/slide" Target="/ppt/slides/slide4.xml" Id="R67f1929cca4c496f" /><Relationship Type="http://schemas.openxmlformats.org/officeDocument/2006/relationships/slide" Target="/ppt/slides/slide5.xml" Id="Ra9edb4dc9f6a4ae0" /><Relationship Type="http://schemas.openxmlformats.org/officeDocument/2006/relationships/slide" Target="/ppt/slides/slide6.xml" Id="R34c59c40e5b64cc6" /><Relationship Type="http://schemas.openxmlformats.org/officeDocument/2006/relationships/slide" Target="/ppt/slides/slide7.xml" Id="R6792e1f857e3413d" /><Relationship Type="http://schemas.openxmlformats.org/officeDocument/2006/relationships/slide" Target="/ppt/slides/slide8.xml" Id="R9e61e51e98c4410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3c1e6218d2a494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1d2658d3a1b4738" /><Relationship Type="http://schemas.openxmlformats.org/officeDocument/2006/relationships/notesMaster" Target="/ppt/notesMasters/notesMaster1.xml" Id="R4113ad063acb4db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9076475e80c4833" /><Relationship Type="http://schemas.openxmlformats.org/officeDocument/2006/relationships/notesMaster" Target="/ppt/notesMasters/notesMaster1.xml" Id="Rc650bd960d494bc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14878851b734dec" /><Relationship Type="http://schemas.openxmlformats.org/officeDocument/2006/relationships/notesMaster" Target="/ppt/notesMasters/notesMaster1.xml" Id="R58e41a0f70d04b6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043e531c25b4741" /><Relationship Type="http://schemas.openxmlformats.org/officeDocument/2006/relationships/notesMaster" Target="/ppt/notesMasters/notesMaster1.xml" Id="R9e0034bb306448f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c169f7496604787" /><Relationship Type="http://schemas.openxmlformats.org/officeDocument/2006/relationships/notesMaster" Target="/ppt/notesMasters/notesMaster1.xml" Id="Rf66b2b8507c644a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61def98e78e4f9c" /><Relationship Type="http://schemas.openxmlformats.org/officeDocument/2006/relationships/notesMaster" Target="/ppt/notesMasters/notesMaster1.xml" Id="R758097225d46489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c13b61c70e54168" /><Relationship Type="http://schemas.openxmlformats.org/officeDocument/2006/relationships/notesMaster" Target="/ppt/notesMasters/notesMaster1.xml" Id="R7e037a95597f453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9f6ed30a96d4c71" /><Relationship Type="http://schemas.openxmlformats.org/officeDocument/2006/relationships/notesMaster" Target="/ppt/notesMasters/notesMaster1.xml" Id="R12205d2f3784495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by connecting this module to the student project and current teacher instructions.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Students should write their own response. The website provides steps and an appropriate response example without revealing quiz answers.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Students should write their own response. The website provides steps and an appropriate response example without revealing quiz answers.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website module and project activity for the interactive evidence tasks.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4e475482ba409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964116ab9b64421" /><Relationship Type="http://schemas.openxmlformats.org/officeDocument/2006/relationships/slideLayout" Target="/ppt/slideLayouts/slideLayout1.xml" Id="R4cd01b1f412044a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cd01b1f412044a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ca695921bc4956" /><Relationship Type="http://schemas.openxmlformats.org/officeDocument/2006/relationships/image" Target="/ppt/media/image.png" Id="R4f05c664772b4bb2" /><Relationship Type="http://schemas.openxmlformats.org/officeDocument/2006/relationships/notesSlide" Target="/ppt/notesSlides/notesSlide1.xml" Id="R81dc514f8d3c4ff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bf75033eb749be" /><Relationship Type="http://schemas.openxmlformats.org/officeDocument/2006/relationships/notesSlide" Target="/ppt/notesSlides/notesSlide2.xml" Id="R231ea18fb77246e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b36d263d654e5f" /><Relationship Type="http://schemas.openxmlformats.org/officeDocument/2006/relationships/notesSlide" Target="/ppt/notesSlides/notesSlide3.xml" Id="Rf2d95e21fc3d4f1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0d2dd85adf4127" /><Relationship Type="http://schemas.openxmlformats.org/officeDocument/2006/relationships/notesSlide" Target="/ppt/notesSlides/notesSlide4.xml" Id="Rf3983bd888a4498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844cacff234d53" /><Relationship Type="http://schemas.openxmlformats.org/officeDocument/2006/relationships/notesSlide" Target="/ppt/notesSlides/notesSlide5.xml" Id="R42103daa6d194b6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8606f08cc749e7" /><Relationship Type="http://schemas.openxmlformats.org/officeDocument/2006/relationships/notesSlide" Target="/ppt/notesSlides/notesSlide6.xml" Id="R4a056162045d495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17e8b4b3c14599" /><Relationship Type="http://schemas.openxmlformats.org/officeDocument/2006/relationships/notesSlide" Target="/ppt/notesSlides/notesSlide7.xml" Id="Rdb817fa42e4c459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8e5e618d4b40ad" /><Relationship Type="http://schemas.openxmlformats.org/officeDocument/2006/relationships/notesSlide" Target="/ppt/notesSlides/notesSlide8.xml" Id="R73959e32f46a4d3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8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-plane">
            <a:extLst xmlns:a="http://schemas.openxmlformats.org/drawingml/2006/main">
              <a:ext uri="{FF2B5EF4-FFF2-40B4-BE49-F238E27FC236}">
                <a16:creationId xmlns:a16="http://schemas.microsoft.com/office/drawing/2014/main" id="{DBEE2930-37E5-40FD-B9FA-393B192A1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239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4C4A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05c664772b4bb2"/>
          <a:srcRect xmlns:a="http://schemas.openxmlformats.org/drawingml/2006/main" l="24074" t="0" r="2407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0" y="0"/>
            <a:ext cx="5334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module-kicker">
            <a:extLst xmlns:a="http://schemas.openxmlformats.org/drawingml/2006/main">
              <a:ext uri="{FF2B5EF4-FFF2-40B4-BE49-F238E27FC236}">
                <a16:creationId xmlns:a16="http://schemas.microsoft.com/office/drawing/2014/main" id="{D36486E4-71C8-4C71-A459-572515B73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4953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0A53A"/>
                </a:solidFill>
              </a:defRPr>
            </a:pPr>
            <a:r>
              <a:rPr sz="1350" b="1">
                <a:solidFill>
                  <a:srgbClr val="E0A53A"/>
                </a:solidFill>
              </a:rPr>
              <a:t>MODULE 5 OF 10</a:t>
            </a:r>
          </a:p>
        </p:txBody>
      </p:sp>
      <p:sp>
        <p:nvSpPr>
          <p:cNvPr id="4" name="deck-title">
            <a:extLst xmlns:a="http://schemas.openxmlformats.org/drawingml/2006/main">
              <a:ext uri="{FF2B5EF4-FFF2-40B4-BE49-F238E27FC236}">
                <a16:creationId xmlns:a16="http://schemas.microsoft.com/office/drawing/2014/main" id="{652B3828-EB4E-4697-8F41-507CCF1D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56197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FFFF"/>
                </a:solidFill>
              </a:defRPr>
            </a:pPr>
            <a:r>
              <a:rPr sz="3900" b="1">
                <a:solidFill>
                  <a:srgbClr val="FFFFFF"/>
                </a:solidFill>
              </a:rPr>
              <a:t>Develop and communicate ideas</a:t>
            </a:r>
          </a:p>
        </p:txBody>
      </p:sp>
      <p:sp>
        <p:nvSpPr>
          <p:cNvPr id="5" name="deck-subtitle">
            <a:extLst xmlns:a="http://schemas.openxmlformats.org/drawingml/2006/main">
              <a:ext uri="{FF2B5EF4-FFF2-40B4-BE49-F238E27FC236}">
                <a16:creationId xmlns:a16="http://schemas.microsoft.com/office/drawing/2014/main" id="{AE042E6B-70E4-4E8E-BB0D-D5E396C42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5429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E6F2EF"/>
                </a:solidFill>
              </a:defRPr>
            </a:pPr>
            <a:r>
              <a:rPr sz="1875" b="0">
                <a:solidFill>
                  <a:srgbClr val="E6F2EF"/>
                </a:solidFill>
              </a:rPr>
              <a:t>Generate alternatives, annotate decisions and present a final design.</a:t>
            </a:r>
          </a:p>
        </p:txBody>
      </p:sp>
      <p:sp>
        <p:nvSpPr>
          <p:cNvPr id="6" name="deck-footer">
            <a:extLst xmlns:a="http://schemas.openxmlformats.org/drawingml/2006/main">
              <a:ext uri="{FF2B5EF4-FFF2-40B4-BE49-F238E27FC236}">
                <a16:creationId xmlns:a16="http://schemas.microsoft.com/office/drawing/2014/main" id="{4446EC04-88E9-4EAF-AD8A-A8F023581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61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FD9D6"/>
                </a:solidFill>
              </a:defRPr>
            </a:pPr>
            <a:r>
              <a:rPr sz="1200" b="0">
                <a:solidFill>
                  <a:srgbClr val="BFD9D6"/>
                </a:solidFill>
              </a:rPr>
              <a:t>Year 7/8 Technology Mandatory · Student learning presentation</a:t>
            </a:r>
          </a:p>
        </p:txBody>
      </p:sp>
    </p:spTree>
    <p:extLst>
      <p:ext uri="{BB962C8B-B14F-4D97-AF65-F5344CB8AC3E}">
        <p14:creationId xmlns:p14="http://schemas.microsoft.com/office/powerpoint/2010/main" val="92958465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8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rule">
            <a:extLst xmlns:a="http://schemas.openxmlformats.org/drawingml/2006/main">
              <a:ext uri="{FF2B5EF4-FFF2-40B4-BE49-F238E27FC236}">
                <a16:creationId xmlns:a16="http://schemas.microsoft.com/office/drawing/2014/main" id="{F324BDC2-554B-46B9-B556-BC52A6444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0EE3B34E-B7E1-440C-906B-5617C5FF2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F7DE7D1E-EA5D-4859-AE1D-1D5A5B1F9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5  ·  LEARNING PATH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3F084D4-7636-414A-836D-444BA47EB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Three ideas build one design decision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61E7B480-AC2F-45D5-A389-BF864B539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Read, notice, explain and apply each section in order.</a:t>
            </a:r>
          </a:p>
        </p:txBody>
      </p:sp>
      <p:sp>
        <p:nvSpPr>
          <p:cNvPr id="6" name="bullet-1">
            <a:extLst xmlns:a="http://schemas.openxmlformats.org/drawingml/2006/main">
              <a:ext uri="{FF2B5EF4-FFF2-40B4-BE49-F238E27FC236}">
                <a16:creationId xmlns:a16="http://schemas.microsoft.com/office/drawing/2014/main" id="{816A6F19-418C-4FB9-A5F5-BBA3D4138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ullet-number-1">
            <a:extLst xmlns:a="http://schemas.openxmlformats.org/drawingml/2006/main">
              <a:ext uri="{FF2B5EF4-FFF2-40B4-BE49-F238E27FC236}">
                <a16:creationId xmlns:a16="http://schemas.microsoft.com/office/drawing/2014/main" id="{2F7441AC-8104-44BB-BAE1-C5640C020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343A"/>
                </a:solidFill>
              </a:defRPr>
            </a:pPr>
            <a:r>
              <a:rPr sz="1425" b="1">
                <a:solidFill>
                  <a:srgbClr val="16343A"/>
                </a:solidFill>
              </a:rPr>
              <a:t>1</a:t>
            </a:r>
          </a:p>
        </p:txBody>
      </p:sp>
      <p:sp>
        <p:nvSpPr>
          <p:cNvPr id="8" name="bullet-copy-1">
            <a:extLst xmlns:a="http://schemas.openxmlformats.org/drawingml/2006/main">
              <a:ext uri="{FF2B5EF4-FFF2-40B4-BE49-F238E27FC236}">
                <a16:creationId xmlns:a16="http://schemas.microsoft.com/office/drawing/2014/main" id="{1D361E49-32E3-4A68-AB35-041BB630B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003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5.1 Research and inspiration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E5916266-2FEE-47EA-A0C6-9528B6271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956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ullet-number-2">
            <a:extLst xmlns:a="http://schemas.openxmlformats.org/drawingml/2006/main">
              <a:ext uri="{FF2B5EF4-FFF2-40B4-BE49-F238E27FC236}">
                <a16:creationId xmlns:a16="http://schemas.microsoft.com/office/drawing/2014/main" id="{2987BE97-F9A3-4CDD-B8B1-A47F3CC2D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2</a:t>
            </a:r>
          </a:p>
        </p:txBody>
      </p:sp>
      <p:sp>
        <p:nvSpPr>
          <p:cNvPr id="11" name="bullet-copy-2">
            <a:extLst xmlns:a="http://schemas.openxmlformats.org/drawingml/2006/main">
              <a:ext uri="{FF2B5EF4-FFF2-40B4-BE49-F238E27FC236}">
                <a16:creationId xmlns:a16="http://schemas.microsoft.com/office/drawing/2014/main" id="{8CBF0482-7FDD-49EA-915C-1FA500EC3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671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5.2 Generate different concepts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F8454587-AE9A-436E-80DA-9C36741F3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ullet-number-3">
            <a:extLst xmlns:a="http://schemas.openxmlformats.org/drawingml/2006/main">
              <a:ext uri="{FF2B5EF4-FFF2-40B4-BE49-F238E27FC236}">
                <a16:creationId xmlns:a16="http://schemas.microsoft.com/office/drawing/2014/main" id="{6D55DD83-4F38-4A75-8FA6-001DA76D7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3</a:t>
            </a:r>
          </a:p>
        </p:txBody>
      </p:sp>
      <p:sp>
        <p:nvSpPr>
          <p:cNvPr id="14" name="bullet-copy-3">
            <a:extLst xmlns:a="http://schemas.openxmlformats.org/drawingml/2006/main">
              <a:ext uri="{FF2B5EF4-FFF2-40B4-BE49-F238E27FC236}">
                <a16:creationId xmlns:a16="http://schemas.microsoft.com/office/drawing/2014/main" id="{2B4AB315-D10E-42CA-A80B-85C6FC928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5.3 Final design communication</a:t>
            </a:r>
          </a:p>
        </p:txBody>
      </p:sp>
    </p:spTree>
    <p:extLst>
      <p:ext uri="{BB962C8B-B14F-4D97-AF65-F5344CB8AC3E}">
        <p14:creationId xmlns:p14="http://schemas.microsoft.com/office/powerpoint/2010/main" val="103343524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8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rule">
            <a:extLst xmlns:a="http://schemas.openxmlformats.org/drawingml/2006/main">
              <a:ext uri="{FF2B5EF4-FFF2-40B4-BE49-F238E27FC236}">
                <a16:creationId xmlns:a16="http://schemas.microsoft.com/office/drawing/2014/main" id="{4E770C6F-D80B-495D-87CC-3F8F945CB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EBB21284-5234-4CF2-9AF6-213975465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84796C8B-7908-42A0-8501-24153BB48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5  ·  SECTION 5.1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2C0F2B9-51C6-4249-B917-7B840B3B8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5.1 Research and inspiration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2CE73BA4-EC78-45B8-9CD7-8F0D25450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Key ideas to understand before you write.</a:t>
            </a:r>
          </a:p>
        </p:txBody>
      </p:sp>
      <p:sp>
        <p:nvSpPr>
          <p:cNvPr id="6" name="bullet-1">
            <a:extLst xmlns:a="http://schemas.openxmlformats.org/drawingml/2006/main">
              <a:ext uri="{FF2B5EF4-FFF2-40B4-BE49-F238E27FC236}">
                <a16:creationId xmlns:a16="http://schemas.microsoft.com/office/drawing/2014/main" id="{D3A3412A-28DD-490D-83CF-A49A03B62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ullet-number-1">
            <a:extLst xmlns:a="http://schemas.openxmlformats.org/drawingml/2006/main">
              <a:ext uri="{FF2B5EF4-FFF2-40B4-BE49-F238E27FC236}">
                <a16:creationId xmlns:a16="http://schemas.microsoft.com/office/drawing/2014/main" id="{90E22ED2-B069-4AFB-AD29-A1001F89E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343A"/>
                </a:solidFill>
              </a:defRPr>
            </a:pPr>
            <a:r>
              <a:rPr sz="1425" b="1">
                <a:solidFill>
                  <a:srgbClr val="16343A"/>
                </a:solidFill>
              </a:rPr>
              <a:t>1</a:t>
            </a:r>
          </a:p>
        </p:txBody>
      </p:sp>
      <p:sp>
        <p:nvSpPr>
          <p:cNvPr id="8" name="bullet-copy-1">
            <a:extLst xmlns:a="http://schemas.openxmlformats.org/drawingml/2006/main">
              <a:ext uri="{FF2B5EF4-FFF2-40B4-BE49-F238E27FC236}">
                <a16:creationId xmlns:a16="http://schemas.microsoft.com/office/drawing/2014/main" id="{9ACDA5B3-8FED-4114-985E-76CCD6150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003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Research helps a designer understand existing lunch bags, alternative packaging, closures, decorative approaches and user preferences.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F93C2C4D-687D-461E-82F0-B75059FF6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956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ullet-number-2">
            <a:extLst xmlns:a="http://schemas.openxmlformats.org/drawingml/2006/main">
              <a:ext uri="{FF2B5EF4-FFF2-40B4-BE49-F238E27FC236}">
                <a16:creationId xmlns:a16="http://schemas.microsoft.com/office/drawing/2014/main" id="{69BB1C1F-777A-4DBA-8587-CD887BC4A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2</a:t>
            </a:r>
          </a:p>
        </p:txBody>
      </p:sp>
      <p:sp>
        <p:nvSpPr>
          <p:cNvPr id="11" name="bullet-copy-2">
            <a:extLst xmlns:a="http://schemas.openxmlformats.org/drawingml/2006/main">
              <a:ext uri="{FF2B5EF4-FFF2-40B4-BE49-F238E27FC236}">
                <a16:creationId xmlns:a16="http://schemas.microsoft.com/office/drawing/2014/main" id="{D8BB63D9-0B27-4120-A779-F984B15F0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671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Good research compares patterns across products.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04E260CA-E4F2-4F5C-AA04-C7EB583E0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ullet-number-3">
            <a:extLst xmlns:a="http://schemas.openxmlformats.org/drawingml/2006/main">
              <a:ext uri="{FF2B5EF4-FFF2-40B4-BE49-F238E27FC236}">
                <a16:creationId xmlns:a16="http://schemas.microsoft.com/office/drawing/2014/main" id="{BB80D497-133D-4526-BDA5-12D9C605C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3</a:t>
            </a:r>
          </a:p>
        </p:txBody>
      </p:sp>
      <p:sp>
        <p:nvSpPr>
          <p:cNvPr id="14" name="bullet-copy-3">
            <a:extLst xmlns:a="http://schemas.openxmlformats.org/drawingml/2006/main">
              <a:ext uri="{FF2B5EF4-FFF2-40B4-BE49-F238E27FC236}">
                <a16:creationId xmlns:a16="http://schemas.microsoft.com/office/drawing/2014/main" id="{2DEE4DC9-A78A-4F75-B564-80EB09AED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A clear opening from one product and a compact carrying idea from another can inspire a new response, provided the final design fits the brief and approved constructi…</a:t>
            </a:r>
          </a:p>
        </p:txBody>
      </p:sp>
    </p:spTree>
    <p:extLst>
      <p:ext uri="{BB962C8B-B14F-4D97-AF65-F5344CB8AC3E}">
        <p14:creationId xmlns:p14="http://schemas.microsoft.com/office/powerpoint/2010/main" val="40343094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-rule">
            <a:extLst xmlns:a="http://schemas.openxmlformats.org/drawingml/2006/main">
              <a:ext uri="{FF2B5EF4-FFF2-40B4-BE49-F238E27FC236}">
                <a16:creationId xmlns:a16="http://schemas.microsoft.com/office/drawing/2014/main" id="{6AB6B643-5494-4C4D-85CC-5DF6324AE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37D4F2AC-AD9B-4278-84C4-7771FDBC0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E3F6FD72-2E56-4254-8703-4AF9C56F6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5  ·  APPLY THE THEORY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6A895A1-8CCB-43ED-907D-7A6031A11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Make the theory visible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FF444161-FC4A-4674-AC2A-0B22AB484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Analyse three existing lunch-bag solutions.</a:t>
            </a:r>
          </a:p>
        </p:txBody>
      </p:sp>
      <p:sp>
        <p:nvSpPr>
          <p:cNvPr id="6" name="prompt-accent">
            <a:extLst xmlns:a="http://schemas.openxmlformats.org/drawingml/2006/main">
              <a:ext uri="{FF2B5EF4-FFF2-40B4-BE49-F238E27FC236}">
                <a16:creationId xmlns:a16="http://schemas.microsoft.com/office/drawing/2014/main" id="{71EA343A-F332-4B09-9140-DE39F2139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143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lain-language">
            <a:extLst xmlns:a="http://schemas.openxmlformats.org/drawingml/2006/main">
              <a:ext uri="{FF2B5EF4-FFF2-40B4-BE49-F238E27FC236}">
                <a16:creationId xmlns:a16="http://schemas.microsoft.com/office/drawing/2014/main" id="{C79B2DC9-8EFB-41CB-A80A-3D88B93B1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050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6B67"/>
                </a:solidFill>
              </a:defRPr>
            </a:pPr>
            <a:r>
              <a:rPr sz="1275" b="1">
                <a:solidFill>
                  <a:srgbClr val="176B67"/>
                </a:solidFill>
              </a:rPr>
              <a:t>WHAT THIS IS ASKING</a:t>
            </a:r>
          </a:p>
        </p:txBody>
      </p:sp>
      <p:sp>
        <p:nvSpPr>
          <p:cNvPr id="8" name="clarify">
            <a:extLst xmlns:a="http://schemas.openxmlformats.org/drawingml/2006/main">
              <a:ext uri="{FF2B5EF4-FFF2-40B4-BE49-F238E27FC236}">
                <a16:creationId xmlns:a16="http://schemas.microsoft.com/office/drawing/2014/main" id="{9B709525-CAD9-4946-ADE4-AFD7D70A9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14625"/>
            <a:ext cx="9906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43A"/>
                </a:solidFill>
              </a:defRPr>
            </a:pPr>
            <a:r>
              <a:rPr sz="1800" b="0">
                <a:solidFill>
                  <a:srgbClr val="16343A"/>
                </a:solidFill>
              </a:rPr>
              <a:t>Identify a feature, strength, limitation and possible influence for each.</a:t>
            </a:r>
          </a:p>
        </p:txBody>
      </p:sp>
      <p:sp>
        <p:nvSpPr>
          <p:cNvPr id="9" name="starter-label">
            <a:extLst xmlns:a="http://schemas.openxmlformats.org/drawingml/2006/main">
              <a:ext uri="{FF2B5EF4-FFF2-40B4-BE49-F238E27FC236}">
                <a16:creationId xmlns:a16="http://schemas.microsoft.com/office/drawing/2014/main" id="{5912DF99-B9F5-4945-B25D-8A36C46DA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57625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95543"/>
                </a:solidFill>
              </a:defRPr>
            </a:pPr>
            <a:r>
              <a:rPr sz="1275" b="1">
                <a:solidFill>
                  <a:srgbClr val="B95543"/>
                </a:solidFill>
              </a:rPr>
              <a:t>STARTER</a:t>
            </a:r>
          </a:p>
        </p:txBody>
      </p:sp>
      <p:sp>
        <p:nvSpPr>
          <p:cNvPr id="10" name="starter">
            <a:extLst xmlns:a="http://schemas.openxmlformats.org/drawingml/2006/main">
              <a:ext uri="{FF2B5EF4-FFF2-40B4-BE49-F238E27FC236}">
                <a16:creationId xmlns:a16="http://schemas.microsoft.com/office/drawing/2014/main" id="{0ECE3146-688C-4B68-BEF4-6ED79E751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This product uses… A strength is… I could adapt…</a:t>
            </a:r>
          </a:p>
        </p:txBody>
      </p:sp>
      <p:sp>
        <p:nvSpPr>
          <p:cNvPr id="11" name="action">
            <a:extLst xmlns:a="http://schemas.openxmlformats.org/drawingml/2006/main">
              <a:ext uri="{FF2B5EF4-FFF2-40B4-BE49-F238E27FC236}">
                <a16:creationId xmlns:a16="http://schemas.microsoft.com/office/drawing/2014/main" id="{155F21C8-5843-4DC4-ACC1-FBC9DAD36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15000"/>
            <a:ext cx="9906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76A"/>
                </a:solidFill>
              </a:defRPr>
            </a:pPr>
            <a:r>
              <a:rPr sz="1350" b="1">
                <a:solidFill>
                  <a:srgbClr val="52676A"/>
                </a:solidFill>
              </a:rPr>
              <a:t>Return to the matching website section, complete the ten checks, then save your response.</a:t>
            </a:r>
          </a:p>
        </p:txBody>
      </p:sp>
    </p:spTree>
    <p:extLst>
      <p:ext uri="{BB962C8B-B14F-4D97-AF65-F5344CB8AC3E}">
        <p14:creationId xmlns:p14="http://schemas.microsoft.com/office/powerpoint/2010/main" val="142268797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6F2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rule">
            <a:extLst xmlns:a="http://schemas.openxmlformats.org/drawingml/2006/main">
              <a:ext uri="{FF2B5EF4-FFF2-40B4-BE49-F238E27FC236}">
                <a16:creationId xmlns:a16="http://schemas.microsoft.com/office/drawing/2014/main" id="{5D651C00-9367-4FD2-A9ED-3CB33F981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7DD5260C-5493-4F0C-A158-5B7161D77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C28E9D68-2ACE-461E-972E-6C7A4F13F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5  ·  SECTION 5.2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F297114-289B-4BA2-B913-D8130A279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5.2 Generate different concepts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14DC5F7A-5372-49AC-9789-CC18C2DEB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Key ideas to understand before you write.</a:t>
            </a:r>
          </a:p>
        </p:txBody>
      </p:sp>
      <p:sp>
        <p:nvSpPr>
          <p:cNvPr id="6" name="bullet-1">
            <a:extLst xmlns:a="http://schemas.openxmlformats.org/drawingml/2006/main">
              <a:ext uri="{FF2B5EF4-FFF2-40B4-BE49-F238E27FC236}">
                <a16:creationId xmlns:a16="http://schemas.microsoft.com/office/drawing/2014/main" id="{413ACCE8-6EC3-4A8C-AC99-251C32BCE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ullet-number-1">
            <a:extLst xmlns:a="http://schemas.openxmlformats.org/drawingml/2006/main">
              <a:ext uri="{FF2B5EF4-FFF2-40B4-BE49-F238E27FC236}">
                <a16:creationId xmlns:a16="http://schemas.microsoft.com/office/drawing/2014/main" id="{1282E834-0CB9-48BA-89B2-5521887A4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343A"/>
                </a:solidFill>
              </a:defRPr>
            </a:pPr>
            <a:r>
              <a:rPr sz="1425" b="1">
                <a:solidFill>
                  <a:srgbClr val="16343A"/>
                </a:solidFill>
              </a:rPr>
              <a:t>1</a:t>
            </a:r>
          </a:p>
        </p:txBody>
      </p:sp>
      <p:sp>
        <p:nvSpPr>
          <p:cNvPr id="8" name="bullet-copy-1">
            <a:extLst xmlns:a="http://schemas.openxmlformats.org/drawingml/2006/main">
              <a:ext uri="{FF2B5EF4-FFF2-40B4-BE49-F238E27FC236}">
                <a16:creationId xmlns:a16="http://schemas.microsoft.com/office/drawing/2014/main" id="{4EFA5747-3D8E-4EC5-A037-8F46643AB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003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Strong design development produces several genuinely different concepts.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316BDE86-3F9B-4EF0-8543-653323CB6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956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ullet-number-2">
            <a:extLst xmlns:a="http://schemas.openxmlformats.org/drawingml/2006/main">
              <a:ext uri="{FF2B5EF4-FFF2-40B4-BE49-F238E27FC236}">
                <a16:creationId xmlns:a16="http://schemas.microsoft.com/office/drawing/2014/main" id="{923DCBA3-0D3A-46A3-9FCD-D03006C04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2</a:t>
            </a:r>
          </a:p>
        </p:txBody>
      </p:sp>
      <p:sp>
        <p:nvSpPr>
          <p:cNvPr id="11" name="bullet-copy-2">
            <a:extLst xmlns:a="http://schemas.openxmlformats.org/drawingml/2006/main">
              <a:ext uri="{FF2B5EF4-FFF2-40B4-BE49-F238E27FC236}">
                <a16:creationId xmlns:a16="http://schemas.microsoft.com/office/drawing/2014/main" id="{EBA3364D-53DC-4CD6-B2CF-A73B0A97F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671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Add annotations that explain function, material, construction, safety or user benefit.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AEF4D00B-7A2F-43D7-8D2B-C4663EF49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ullet-number-3">
            <a:extLst xmlns:a="http://schemas.openxmlformats.org/drawingml/2006/main">
              <a:ext uri="{FF2B5EF4-FFF2-40B4-BE49-F238E27FC236}">
                <a16:creationId xmlns:a16="http://schemas.microsoft.com/office/drawing/2014/main" id="{16D43135-68D2-48DA-A4DC-1A94AF44E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3</a:t>
            </a:r>
          </a:p>
        </p:txBody>
      </p:sp>
      <p:sp>
        <p:nvSpPr>
          <p:cNvPr id="14" name="bullet-copy-3">
            <a:extLst xmlns:a="http://schemas.openxmlformats.org/drawingml/2006/main">
              <a:ext uri="{FF2B5EF4-FFF2-40B4-BE49-F238E27FC236}">
                <a16:creationId xmlns:a16="http://schemas.microsoft.com/office/drawing/2014/main" id="{24C46935-3C58-4C73-99A3-B29844F3F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Then annotate each option with function, user benefit and possible production challenge.</a:t>
            </a:r>
          </a:p>
        </p:txBody>
      </p:sp>
    </p:spTree>
    <p:extLst>
      <p:ext uri="{BB962C8B-B14F-4D97-AF65-F5344CB8AC3E}">
        <p14:creationId xmlns:p14="http://schemas.microsoft.com/office/powerpoint/2010/main" val="17185982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-rule">
            <a:extLst xmlns:a="http://schemas.openxmlformats.org/drawingml/2006/main">
              <a:ext uri="{FF2B5EF4-FFF2-40B4-BE49-F238E27FC236}">
                <a16:creationId xmlns:a16="http://schemas.microsoft.com/office/drawing/2014/main" id="{EB77304E-4F80-4C97-85DD-4C0B0B0F6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F5FEF346-F879-4183-B99F-57143023A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3134540D-0158-4732-AFF0-84533FE4D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5  ·  APPLY THE THEORY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85230AA-3F10-4DC9-B7CA-E3C46C2E0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Use evidence, not guesses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1AA5B761-4141-443E-B22B-0CE4F67C3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Develop four genuinely different concepts.</a:t>
            </a:r>
          </a:p>
        </p:txBody>
      </p:sp>
      <p:sp>
        <p:nvSpPr>
          <p:cNvPr id="6" name="prompt-accent">
            <a:extLst xmlns:a="http://schemas.openxmlformats.org/drawingml/2006/main">
              <a:ext uri="{FF2B5EF4-FFF2-40B4-BE49-F238E27FC236}">
                <a16:creationId xmlns:a16="http://schemas.microsoft.com/office/drawing/2014/main" id="{F75F814C-DCFB-4CF0-BE71-4A5BF3DD1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143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55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lain-language">
            <a:extLst xmlns:a="http://schemas.openxmlformats.org/drawingml/2006/main">
              <a:ext uri="{FF2B5EF4-FFF2-40B4-BE49-F238E27FC236}">
                <a16:creationId xmlns:a16="http://schemas.microsoft.com/office/drawing/2014/main" id="{7E77C06B-079E-44B8-94AC-50EF7BB6B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050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6B67"/>
                </a:solidFill>
              </a:defRPr>
            </a:pPr>
            <a:r>
              <a:rPr sz="1275" b="1">
                <a:solidFill>
                  <a:srgbClr val="176B67"/>
                </a:solidFill>
              </a:rPr>
              <a:t>WHAT THIS IS ASKING</a:t>
            </a:r>
          </a:p>
        </p:txBody>
      </p:sp>
      <p:sp>
        <p:nvSpPr>
          <p:cNvPr id="8" name="clarify">
            <a:extLst xmlns:a="http://schemas.openxmlformats.org/drawingml/2006/main">
              <a:ext uri="{FF2B5EF4-FFF2-40B4-BE49-F238E27FC236}">
                <a16:creationId xmlns:a16="http://schemas.microsoft.com/office/drawing/2014/main" id="{A0998108-E38B-476F-8002-7B0B39067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14625"/>
            <a:ext cx="9906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43A"/>
                </a:solidFill>
              </a:defRPr>
            </a:pPr>
            <a:r>
              <a:rPr sz="1800" b="0">
                <a:solidFill>
                  <a:srgbClr val="16343A"/>
                </a:solidFill>
              </a:rPr>
              <a:t>Describe form, closure, carrying feature, decoration and user benefit for each.</a:t>
            </a:r>
          </a:p>
        </p:txBody>
      </p:sp>
      <p:sp>
        <p:nvSpPr>
          <p:cNvPr id="9" name="starter-label">
            <a:extLst xmlns:a="http://schemas.openxmlformats.org/drawingml/2006/main">
              <a:ext uri="{FF2B5EF4-FFF2-40B4-BE49-F238E27FC236}">
                <a16:creationId xmlns:a16="http://schemas.microsoft.com/office/drawing/2014/main" id="{CD404F95-647E-4A93-B770-9FF23669C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57625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95543"/>
                </a:solidFill>
              </a:defRPr>
            </a:pPr>
            <a:r>
              <a:rPr sz="1275" b="1">
                <a:solidFill>
                  <a:srgbClr val="B95543"/>
                </a:solidFill>
              </a:rPr>
              <a:t>STARTER</a:t>
            </a:r>
          </a:p>
        </p:txBody>
      </p:sp>
      <p:sp>
        <p:nvSpPr>
          <p:cNvPr id="10" name="starter">
            <a:extLst xmlns:a="http://schemas.openxmlformats.org/drawingml/2006/main">
              <a:ext uri="{FF2B5EF4-FFF2-40B4-BE49-F238E27FC236}">
                <a16:creationId xmlns:a16="http://schemas.microsoft.com/office/drawing/2014/main" id="{5933BF7D-8FE8-406B-9398-F29BCB36B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Concept A differs because…</a:t>
            </a:r>
          </a:p>
        </p:txBody>
      </p:sp>
      <p:sp>
        <p:nvSpPr>
          <p:cNvPr id="11" name="action">
            <a:extLst xmlns:a="http://schemas.openxmlformats.org/drawingml/2006/main">
              <a:ext uri="{FF2B5EF4-FFF2-40B4-BE49-F238E27FC236}">
                <a16:creationId xmlns:a16="http://schemas.microsoft.com/office/drawing/2014/main" id="{BFF1F323-66B4-4D91-A448-2E27295F8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15000"/>
            <a:ext cx="9906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76A"/>
                </a:solidFill>
              </a:defRPr>
            </a:pPr>
            <a:r>
              <a:rPr sz="1350" b="1">
                <a:solidFill>
                  <a:srgbClr val="52676A"/>
                </a:solidFill>
              </a:rPr>
              <a:t>Return to the matching website section, complete the ten checks, then save your response.</a:t>
            </a:r>
          </a:p>
        </p:txBody>
      </p:sp>
    </p:spTree>
    <p:extLst>
      <p:ext uri="{BB962C8B-B14F-4D97-AF65-F5344CB8AC3E}">
        <p14:creationId xmlns:p14="http://schemas.microsoft.com/office/powerpoint/2010/main" val="143901588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8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rule">
            <a:extLst xmlns:a="http://schemas.openxmlformats.org/drawingml/2006/main">
              <a:ext uri="{FF2B5EF4-FFF2-40B4-BE49-F238E27FC236}">
                <a16:creationId xmlns:a16="http://schemas.microsoft.com/office/drawing/2014/main" id="{CA48C482-C910-4825-9021-ECDEE8F7B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E7716CAB-7A58-4CF0-B2B8-3427A9809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4A9D51D6-0353-459A-B35C-68834B000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5  ·  SECTION 5.3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05E81BC-E087-4CAE-BFFA-692422B6C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5.3 Final design communication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6530C62F-F19B-4DC5-8BF0-31F0E7F93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Key ideas to understand before you write.</a:t>
            </a:r>
          </a:p>
        </p:txBody>
      </p:sp>
      <p:sp>
        <p:nvSpPr>
          <p:cNvPr id="6" name="bullet-1">
            <a:extLst xmlns:a="http://schemas.openxmlformats.org/drawingml/2006/main">
              <a:ext uri="{FF2B5EF4-FFF2-40B4-BE49-F238E27FC236}">
                <a16:creationId xmlns:a16="http://schemas.microsoft.com/office/drawing/2014/main" id="{F80F8A9B-6E60-49D3-BCDD-3FC34B7C9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ullet-number-1">
            <a:extLst xmlns:a="http://schemas.openxmlformats.org/drawingml/2006/main">
              <a:ext uri="{FF2B5EF4-FFF2-40B4-BE49-F238E27FC236}">
                <a16:creationId xmlns:a16="http://schemas.microsoft.com/office/drawing/2014/main" id="{8DC51F8F-E75C-4D00-BEA9-5AE10E562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343A"/>
                </a:solidFill>
              </a:defRPr>
            </a:pPr>
            <a:r>
              <a:rPr sz="1425" b="1">
                <a:solidFill>
                  <a:srgbClr val="16343A"/>
                </a:solidFill>
              </a:rPr>
              <a:t>1</a:t>
            </a:r>
          </a:p>
        </p:txBody>
      </p:sp>
      <p:sp>
        <p:nvSpPr>
          <p:cNvPr id="8" name="bullet-copy-1">
            <a:extLst xmlns:a="http://schemas.openxmlformats.org/drawingml/2006/main">
              <a:ext uri="{FF2B5EF4-FFF2-40B4-BE49-F238E27FC236}">
                <a16:creationId xmlns:a16="http://schemas.microsoft.com/office/drawing/2014/main" id="{7872DB99-9EF0-431D-A943-A446A3200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003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A final design drawing should be clear enough for another person to understand.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57FD3C52-3BBE-46A9-BAD7-6C5A7457E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956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ullet-number-2">
            <a:extLst xmlns:a="http://schemas.openxmlformats.org/drawingml/2006/main">
              <a:ext uri="{FF2B5EF4-FFF2-40B4-BE49-F238E27FC236}">
                <a16:creationId xmlns:a16="http://schemas.microsoft.com/office/drawing/2014/main" id="{E9E91EC6-DB1D-4303-A06C-E1E1E22D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2</a:t>
            </a:r>
          </a:p>
        </p:txBody>
      </p:sp>
      <p:sp>
        <p:nvSpPr>
          <p:cNvPr id="11" name="bullet-copy-2">
            <a:extLst xmlns:a="http://schemas.openxmlformats.org/drawingml/2006/main">
              <a:ext uri="{FF2B5EF4-FFF2-40B4-BE49-F238E27FC236}">
                <a16:creationId xmlns:a16="http://schemas.microsoft.com/office/drawing/2014/main" id="{448F62B2-0CE6-4357-A96A-0B6B73D63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671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Convergent thinking narrows the options using evidence.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FE8B8214-BAA3-4510-B667-88D44610E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ullet-number-3">
            <a:extLst xmlns:a="http://schemas.openxmlformats.org/drawingml/2006/main">
              <a:ext uri="{FF2B5EF4-FFF2-40B4-BE49-F238E27FC236}">
                <a16:creationId xmlns:a16="http://schemas.microsoft.com/office/drawing/2014/main" id="{4AEDA848-995B-4F3D-9782-BA0F7E00E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3</a:t>
            </a:r>
          </a:p>
        </p:txBody>
      </p:sp>
      <p:sp>
        <p:nvSpPr>
          <p:cNvPr id="14" name="bullet-copy-3">
            <a:extLst xmlns:a="http://schemas.openxmlformats.org/drawingml/2006/main">
              <a:ext uri="{FF2B5EF4-FFF2-40B4-BE49-F238E27FC236}">
                <a16:creationId xmlns:a16="http://schemas.microsoft.com/office/drawing/2014/main" id="{456ED643-ED0B-402E-8909-8D99B5FB1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A final communication should include the selected view, useful detail views, labels, a colour/material indication and notes that distinguish confirmed decisions from …</a:t>
            </a:r>
          </a:p>
        </p:txBody>
      </p:sp>
    </p:spTree>
    <p:extLst>
      <p:ext uri="{BB962C8B-B14F-4D97-AF65-F5344CB8AC3E}">
        <p14:creationId xmlns:p14="http://schemas.microsoft.com/office/powerpoint/2010/main" val="90331546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D4C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losing-rule">
            <a:extLst xmlns:a="http://schemas.openxmlformats.org/drawingml/2006/main">
              <a:ext uri="{FF2B5EF4-FFF2-40B4-BE49-F238E27FC236}">
                <a16:creationId xmlns:a16="http://schemas.microsoft.com/office/drawing/2014/main" id="{B65F3DDC-C2DD-4AED-BEA7-1C0D8AFE7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losing-kicker">
            <a:extLst xmlns:a="http://schemas.openxmlformats.org/drawingml/2006/main">
              <a:ext uri="{FF2B5EF4-FFF2-40B4-BE49-F238E27FC236}">
                <a16:creationId xmlns:a16="http://schemas.microsoft.com/office/drawing/2014/main" id="{DB0E8258-DEA4-42EA-A405-86DF5BB65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0A53A"/>
                </a:solidFill>
              </a:defRPr>
            </a:pPr>
            <a:r>
              <a:rPr sz="1350" b="1">
                <a:solidFill>
                  <a:srgbClr val="E0A53A"/>
                </a:solidFill>
              </a:rPr>
              <a:t>MODULE 5 REVIEW</a:t>
            </a:r>
          </a:p>
        </p:txBody>
      </p:sp>
      <p:sp>
        <p:nvSpPr>
          <p:cNvPr id="3" name="closing-title">
            <a:extLst xmlns:a="http://schemas.openxmlformats.org/drawingml/2006/main">
              <a:ext uri="{FF2B5EF4-FFF2-40B4-BE49-F238E27FC236}">
                <a16:creationId xmlns:a16="http://schemas.microsoft.com/office/drawing/2014/main" id="{29B5E2E7-F18E-4515-9134-71DA684EF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7620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FFF"/>
                </a:solidFill>
              </a:defRPr>
            </a:pPr>
            <a:r>
              <a:rPr sz="3300" b="1">
                <a:solidFill>
                  <a:srgbClr val="FFFFFF"/>
                </a:solidFill>
              </a:rPr>
              <a:t>Show what you understand.</a:t>
            </a:r>
          </a:p>
        </p:txBody>
      </p:sp>
      <p:sp>
        <p:nvSpPr>
          <p:cNvPr id="4" name="closing-copy">
            <a:extLst xmlns:a="http://schemas.openxmlformats.org/drawingml/2006/main">
              <a:ext uri="{FF2B5EF4-FFF2-40B4-BE49-F238E27FC236}">
                <a16:creationId xmlns:a16="http://schemas.microsoft.com/office/drawing/2014/main" id="{0CDE052E-2432-4E03-93E5-A750F1AB8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8572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E6F2EF"/>
                </a:solidFill>
              </a:defRPr>
            </a:pPr>
            <a:r>
              <a:rPr sz="2025" b="0">
                <a:solidFill>
                  <a:srgbClr val="E6F2EF"/>
                </a:solidFill>
              </a:rPr>
              <a:t>1. Revisit all three theory sections.</a:t>
            </a:r>
          </a:p>
          <a:p xmlns:a="http://schemas.openxmlformats.org/drawingml/2006/main">
            <a:pPr algn="l">
              <a:defRPr sz="2025" b="0">
                <a:solidFill>
                  <a:srgbClr val="E6F2EF"/>
                </a:solidFill>
              </a:defRPr>
            </a:pPr>
            <a:r>
              <a:rPr sz="2025" b="0">
                <a:solidFill>
                  <a:srgbClr val="E6F2EF"/>
                </a:solidFill>
              </a:rPr>
              <a:t>2. Complete 30 knowledge checks and three guided responses.</a:t>
            </a:r>
          </a:p>
          <a:p xmlns:a="http://schemas.openxmlformats.org/drawingml/2006/main">
            <a:pPr algn="l">
              <a:defRPr sz="2025" b="0">
                <a:solidFill>
                  <a:srgbClr val="E6F2EF"/>
                </a:solidFill>
              </a:defRPr>
            </a:pPr>
            <a:r>
              <a:rPr sz="2025" b="0">
                <a:solidFill>
                  <a:srgbClr val="E6F2EF"/>
                </a:solidFill>
              </a:rPr>
              <a:t>3. Continue the Four-concept design studio and keep authentic evidence.</a:t>
            </a:r>
          </a:p>
        </p:txBody>
      </p:sp>
      <p:sp>
        <p:nvSpPr>
          <p:cNvPr id="5" name="closing-boundary">
            <a:extLst xmlns:a="http://schemas.openxmlformats.org/drawingml/2006/main">
              <a:ext uri="{FF2B5EF4-FFF2-40B4-BE49-F238E27FC236}">
                <a16:creationId xmlns:a16="http://schemas.microsoft.com/office/drawing/2014/main" id="{930BE855-FFE9-4A25-A026-CDA8D88C2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D98B"/>
                </a:solidFill>
              </a:defRPr>
            </a:pPr>
            <a:r>
              <a:rPr sz="1500" b="1">
                <a:solidFill>
                  <a:srgbClr val="FFD98B"/>
                </a:solidFill>
              </a:rPr>
              <a:t>Exact practical instructions and formal submission arrangements: Teacher to confirm.</a:t>
            </a:r>
          </a:p>
        </p:txBody>
      </p:sp>
    </p:spTree>
    <p:extLst>
      <p:ext uri="{BB962C8B-B14F-4D97-AF65-F5344CB8AC3E}">
        <p14:creationId xmlns:p14="http://schemas.microsoft.com/office/powerpoint/2010/main" val="20410071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2026-08-11T12:15:42.4100000Z</dcterms:created>
  <dcterms:modified xsi:type="dcterms:W3CDTF">2026-08-11T12:15:42.4100000Z</dcterms:modified>
</coreProperties>
</file>