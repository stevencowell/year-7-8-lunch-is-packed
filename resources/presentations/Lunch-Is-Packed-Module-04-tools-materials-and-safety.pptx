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c4fff0c0084a3f" /><Relationship Type="http://schemas.openxmlformats.org/officeDocument/2006/relationships/extended-properties" Target="/docProps/app.xml" Id="Rd27d580d43fb4b49" /><Relationship Type="http://schemas.openxmlformats.org/officeDocument/2006/relationships/officeDocument" Target="/ppt/presentation.xml" Id="Re0c3efd370f942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bbc5cc39d846b6"/>
  </p:sldMasterIdLst>
  <p:notesMasterIdLst>
    <p:notesMasterId xmlns:r="http://schemas.openxmlformats.org/officeDocument/2006/relationships" r:id="R14909d1fb4494b60"/>
  </p:notesMasterIdLst>
  <p:sldIdLst>
    <p:sldId xmlns:r="http://schemas.openxmlformats.org/officeDocument/2006/relationships" id="256" r:id="R62122bc5e6f14e82"/>
    <p:sldId xmlns:r="http://schemas.openxmlformats.org/officeDocument/2006/relationships" id="257" r:id="R59bc205e0fd2473e"/>
    <p:sldId xmlns:r="http://schemas.openxmlformats.org/officeDocument/2006/relationships" id="258" r:id="Rff051705fcf84dc4"/>
    <p:sldId xmlns:r="http://schemas.openxmlformats.org/officeDocument/2006/relationships" id="259" r:id="R034e92d91dd9460e"/>
    <p:sldId xmlns:r="http://schemas.openxmlformats.org/officeDocument/2006/relationships" id="260" r:id="R46c3f11ea43843bb"/>
    <p:sldId xmlns:r="http://schemas.openxmlformats.org/officeDocument/2006/relationships" id="261" r:id="R2b7140a04930426f"/>
    <p:sldId xmlns:r="http://schemas.openxmlformats.org/officeDocument/2006/relationships" id="262" r:id="Re2ca782ca86f48c3"/>
    <p:sldId xmlns:r="http://schemas.openxmlformats.org/officeDocument/2006/relationships" id="263" r:id="R192e0e00e42b4b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36b668b7c44212" /><Relationship Type="http://schemas.openxmlformats.org/officeDocument/2006/relationships/slideMaster" Target="/ppt/slideMasters/slideMaster1.xml" Id="R31bbc5cc39d846b6" /><Relationship Type="http://schemas.openxmlformats.org/officeDocument/2006/relationships/notesMaster" Target="/ppt/notesMasters/notesMaster1.xml" Id="R14909d1fb4494b60" /><Relationship Type="http://schemas.openxmlformats.org/officeDocument/2006/relationships/presProps" Target="/ppt/presProps.xml" Id="Re0fd9c59a20b4146" /><Relationship Type="http://schemas.openxmlformats.org/officeDocument/2006/relationships/tableStyles" Target="/ppt/tableStyles.xml" Id="R00980affbdbf446a" /><Relationship Type="http://schemas.openxmlformats.org/officeDocument/2006/relationships/slide" Target="/ppt/slides/slide1.xml" Id="R62122bc5e6f14e82" /><Relationship Type="http://schemas.openxmlformats.org/officeDocument/2006/relationships/slide" Target="/ppt/slides/slide2.xml" Id="R59bc205e0fd2473e" /><Relationship Type="http://schemas.openxmlformats.org/officeDocument/2006/relationships/slide" Target="/ppt/slides/slide3.xml" Id="Rff051705fcf84dc4" /><Relationship Type="http://schemas.openxmlformats.org/officeDocument/2006/relationships/slide" Target="/ppt/slides/slide4.xml" Id="R034e92d91dd9460e" /><Relationship Type="http://schemas.openxmlformats.org/officeDocument/2006/relationships/slide" Target="/ppt/slides/slide5.xml" Id="R46c3f11ea43843bb" /><Relationship Type="http://schemas.openxmlformats.org/officeDocument/2006/relationships/slide" Target="/ppt/slides/slide6.xml" Id="R2b7140a04930426f" /><Relationship Type="http://schemas.openxmlformats.org/officeDocument/2006/relationships/slide" Target="/ppt/slides/slide7.xml" Id="Re2ca782ca86f48c3" /><Relationship Type="http://schemas.openxmlformats.org/officeDocument/2006/relationships/slide" Target="/ppt/slides/slide8.xml" Id="R192e0e00e42b4b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a4d96d8d1f49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27c9a0801147db" /><Relationship Type="http://schemas.openxmlformats.org/officeDocument/2006/relationships/notesMaster" Target="/ppt/notesMasters/notesMaster1.xml" Id="R3bb9b654130049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6fed7e06b64245" /><Relationship Type="http://schemas.openxmlformats.org/officeDocument/2006/relationships/notesMaster" Target="/ppt/notesMasters/notesMaster1.xml" Id="R133aa245b68a43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43bb70edb140e3" /><Relationship Type="http://schemas.openxmlformats.org/officeDocument/2006/relationships/notesMaster" Target="/ppt/notesMasters/notesMaster1.xml" Id="Rff857d37963140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8e8faf0f9e42c5" /><Relationship Type="http://schemas.openxmlformats.org/officeDocument/2006/relationships/notesMaster" Target="/ppt/notesMasters/notesMaster1.xml" Id="Raf832c2a4b1f4b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5a14d5c5934aed" /><Relationship Type="http://schemas.openxmlformats.org/officeDocument/2006/relationships/notesMaster" Target="/ppt/notesMasters/notesMaster1.xml" Id="R84b62be3273445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c40493208441b0" /><Relationship Type="http://schemas.openxmlformats.org/officeDocument/2006/relationships/notesMaster" Target="/ppt/notesMasters/notesMaster1.xml" Id="Rc427dc8f4b6548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78b09c39f34901" /><Relationship Type="http://schemas.openxmlformats.org/officeDocument/2006/relationships/notesMaster" Target="/ppt/notesMasters/notesMaster1.xml" Id="R40f7179e5f2b40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d081aff3294a3a" /><Relationship Type="http://schemas.openxmlformats.org/officeDocument/2006/relationships/notesMaster" Target="/ppt/notesMasters/notesMaster1.xml" Id="R834fa01521664d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connecting this module to the student project and current teacher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write their own response. The website provides steps and an appropriate response example without revealing quiz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website module and project activity for the interactive evidence tasks.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Lunch Is Packed authorised Classroom and Drive teaching sequence, inspected 11 August 2026.</a:t>
            </a:r>
          </a:p>
          <a:p xmlns:a="http://schemas.openxmlformats.org/drawingml/2006/main">
            <a:r>
              <a:t>- NSW Education Standards Authority, Technology 7–8 (2023): https://curriculum.nsw.edu.au/learning-areas/tas/technology-7-8-2023/overview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56ab88c1449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5b5ff3625649c1" /><Relationship Type="http://schemas.openxmlformats.org/officeDocument/2006/relationships/slideLayout" Target="/ppt/slideLayouts/slideLayout1.xml" Id="Rceed9b37074543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ed9b37074543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aca5547c64bda" /><Relationship Type="http://schemas.openxmlformats.org/officeDocument/2006/relationships/image" Target="/ppt/media/image.png" Id="R6f5450ce02124d60" /><Relationship Type="http://schemas.openxmlformats.org/officeDocument/2006/relationships/notesSlide" Target="/ppt/notesSlides/notesSlide1.xml" Id="Rf519f1745a4b4e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35d13a9854240" /><Relationship Type="http://schemas.openxmlformats.org/officeDocument/2006/relationships/notesSlide" Target="/ppt/notesSlides/notesSlide2.xml" Id="R6a176590fb0946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f4e5f31f44cd3" /><Relationship Type="http://schemas.openxmlformats.org/officeDocument/2006/relationships/notesSlide" Target="/ppt/notesSlides/notesSlide3.xml" Id="Re91ccc5bce924e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381f707994538" /><Relationship Type="http://schemas.openxmlformats.org/officeDocument/2006/relationships/notesSlide" Target="/ppt/notesSlides/notesSlide4.xml" Id="R83d62b2e391448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c9d0a10864c19" /><Relationship Type="http://schemas.openxmlformats.org/officeDocument/2006/relationships/notesSlide" Target="/ppt/notesSlides/notesSlide5.xml" Id="R97659840f8414c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6e94cc88045eb" /><Relationship Type="http://schemas.openxmlformats.org/officeDocument/2006/relationships/notesSlide" Target="/ppt/notesSlides/notesSlide6.xml" Id="R9b81a58c3e4144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976c63e924be2" /><Relationship Type="http://schemas.openxmlformats.org/officeDocument/2006/relationships/notesSlide" Target="/ppt/notesSlides/notesSlide7.xml" Id="R6b2518a8915c46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66c2066c6486c" /><Relationship Type="http://schemas.openxmlformats.org/officeDocument/2006/relationships/notesSlide" Target="/ppt/notesSlides/notesSlide8.xml" Id="R2904b110942948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plane">
            <a:extLst xmlns:a="http://schemas.openxmlformats.org/drawingml/2006/main">
              <a:ext uri="{FF2B5EF4-FFF2-40B4-BE49-F238E27FC236}">
                <a16:creationId xmlns:a16="http://schemas.microsoft.com/office/drawing/2014/main" id="{BBE2A673-C16F-4589-B8BE-67812C40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C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450ce02124d60"/>
          <a:srcRect xmlns:a="http://schemas.openxmlformats.org/drawingml/2006/main" l="30134" t="0" r="30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module-kicker">
            <a:extLst xmlns:a="http://schemas.openxmlformats.org/drawingml/2006/main">
              <a:ext uri="{FF2B5EF4-FFF2-40B4-BE49-F238E27FC236}">
                <a16:creationId xmlns:a16="http://schemas.microsoft.com/office/drawing/2014/main" id="{8E2DFE7E-5DC7-4B9B-97A7-9BBB83D0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4 OF 10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B78569E0-02AD-47A9-AB15-C1DE71DA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619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Tools, materials and safety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0C3EB678-3C89-4B68-8386-BA0A877E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6F2EF"/>
                </a:solidFill>
              </a:defRPr>
            </a:pPr>
            <a:r>
              <a:rPr sz="1875" b="0">
                <a:solidFill>
                  <a:srgbClr val="E6F2EF"/>
                </a:solidFill>
              </a:rPr>
              <a:t>Prepare a safe textile workspace and select each tool for its function.</a:t>
            </a:r>
          </a:p>
        </p:txBody>
      </p:sp>
      <p:sp>
        <p:nvSpPr>
          <p:cNvPr id="6" name="deck-footer">
            <a:extLst xmlns:a="http://schemas.openxmlformats.org/drawingml/2006/main">
              <a:ext uri="{FF2B5EF4-FFF2-40B4-BE49-F238E27FC236}">
                <a16:creationId xmlns:a16="http://schemas.microsoft.com/office/drawing/2014/main" id="{5B83E998-5108-4316-8436-97805D1A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9D6"/>
                </a:solidFill>
              </a:defRPr>
            </a:pPr>
            <a:r>
              <a:rPr sz="1200" b="0">
                <a:solidFill>
                  <a:srgbClr val="BFD9D6"/>
                </a:solidFill>
              </a:rPr>
              <a:t>Year 7/8 Technology Mandatory · Student learning presentation</a:t>
            </a:r>
          </a:p>
        </p:txBody>
      </p:sp>
    </p:spTree>
    <p:extLst>
      <p:ext uri="{BB962C8B-B14F-4D97-AF65-F5344CB8AC3E}">
        <p14:creationId xmlns:p14="http://schemas.microsoft.com/office/powerpoint/2010/main" val="21154725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EF56C75D-CA1D-47FA-9803-881722E4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882F80C0-C337-4C6D-85F8-E1046CE8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7A0E292E-7806-4504-8760-0F352F88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4  ·  LEARNING PATH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5A2510-1955-4726-BE23-A70979C0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Three ideas build one design decision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CB9CBA-7733-47E7-83FE-1286C05A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Read, notice, explain and apply each section in order.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DDAB0372-148C-41D3-B80C-11A4AC61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0812660B-FFEC-49F5-A704-B7DBBCB1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4696D337-E296-4F84-A97E-CC2308C5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4.1 Safe textile-work routines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EBDC1D9F-BDF9-4D84-9D2E-B53AD301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FB2907F1-2E95-44B4-A118-FB8177B5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B89B9A16-3376-48B7-87C9-76BEC519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4.2 Pins, scissors and steam irons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8164FE5D-B795-4937-958D-EE79C8CF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C60CEBB3-3F99-4CC5-A5AC-032C2467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B0D7D993-CF8A-4303-B0E4-3C60C7F5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4.3 A purposeful equipment list</a:t>
            </a:r>
          </a:p>
        </p:txBody>
      </p:sp>
    </p:spTree>
    <p:extLst>
      <p:ext uri="{BB962C8B-B14F-4D97-AF65-F5344CB8AC3E}">
        <p14:creationId xmlns:p14="http://schemas.microsoft.com/office/powerpoint/2010/main" val="8747016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7E799E20-D068-4376-915D-29C6E46A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0A6E1277-D338-42AF-8A14-10A10AAF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5976DAFE-4DE4-4D1F-8817-2C5D3671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4  ·  SECTION 4.1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0D2943-07D1-4F02-9DF4-ED81C348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4.1 Safe textile-work routines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528C94B-53C2-4A97-8264-B10215C3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7E14C4A8-BBF2-48BB-88C7-7A82D077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F34754FD-AD01-492D-BCAE-FB531CBE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697746C6-7985-412B-9495-A7AF48A9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Before using equipment, secure loose clothing and hair, remove or control jewellery as directed, prepare a clear workspace and ask for the teacher’s demonstration.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38D6FD5B-259C-4236-B86C-02FEEE97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B8C69C39-98F2-44CC-8042-E2DF0FE6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4AADE158-883F-463D-A129-1E02746F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Keep fingers away from the needle area and sew only at a speed you can control.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4D3A9360-F5D4-4187-8D0C-AB5DCAEF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D93C7628-0A96-4628-82B1-FE1E21B5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07FDF4AD-A90E-4FA0-9E1E-EC85CBB8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Switch off equipment before threading, inserting a bobbin or making adjustments unless the teacher demonstrates a different safe procedure for that machine.</a:t>
            </a:r>
          </a:p>
        </p:txBody>
      </p:sp>
    </p:spTree>
    <p:extLst>
      <p:ext uri="{BB962C8B-B14F-4D97-AF65-F5344CB8AC3E}">
        <p14:creationId xmlns:p14="http://schemas.microsoft.com/office/powerpoint/2010/main" val="297673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CEA5203D-2C3E-42DC-911A-49CBD6C4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A1F474F6-CEC4-4C9D-BAE6-8C5992CB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69114425-A78D-44A5-B1F1-4904E359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4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73DBCD-73BB-4EA1-A80C-C610CBE5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Make the theory visible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941CF90-3DFF-467F-A869-0166ABDD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Write the before-sewing safety routine in order.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80D6A53F-72C5-418C-939D-9559E24D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A49C2CEF-4CF2-4CDE-ADB3-CBB81F21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C9A2C71F-3EE6-4BC6-9B2F-E1460CE5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Use the source safety rules and keep model-specific actions under teacher direction.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0145A717-7B02-4F96-B6F8-71996651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9205E7F2-E616-4298-ABA0-713FC3BA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Before sewing I will…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147C4276-6DE6-4359-B1B4-3A943B5E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1310761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6F2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A981A744-B8C0-4561-BF1F-83EE4134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19B5C26D-005B-4687-A054-C05F3793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9A895593-B453-43FB-A81C-7956DA64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4  ·  SECTION 4.2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863AAC-F34A-4D1F-ACEE-BAB77FAD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4.2 Pins, scissors and steam irons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1D3FBD6-C0C3-46B4-8116-CA0DE3DF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EA682F19-F375-4847-9742-3B1BF8F8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D23A7CCB-68C2-4D8C-AE3C-F138CD14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95526D2A-0340-416A-9BDA-683F7A4F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Never place pins or needles in your mouth.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C667A415-5F17-4108-835A-E0478940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B6A31F72-7584-4632-BC69-9756A6F8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B863C6A2-3E9A-4FF5-A29C-8AC1D048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Store them in a pin cushion or approved container.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A585CA0F-018C-4420-917E-6573EB79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7FE42FA8-9789-4BB5-8953-4C15CE5D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8B6B2688-23E4-4925-BAB1-89E0E649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Carry scissors closed with the points down and use fabric scissors only for fabric.</a:t>
            </a:r>
          </a:p>
        </p:txBody>
      </p:sp>
    </p:spTree>
    <p:extLst>
      <p:ext uri="{BB962C8B-B14F-4D97-AF65-F5344CB8AC3E}">
        <p14:creationId xmlns:p14="http://schemas.microsoft.com/office/powerpoint/2010/main" val="1240345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6EE2E811-A75A-4E00-8A8F-DA223851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0AF514D9-33CC-4C58-B87E-0EEF395E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174934CA-AE39-4AA9-9164-F08090C5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4  ·  APPLY THE THEORY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708347-DFEB-48FB-8440-C26317E2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Use evidence, not guesses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D7C71C8-1ADD-4999-B32B-AE73176F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Pair six textile-room hazards with specific controls.</a:t>
            </a:r>
          </a:p>
        </p:txBody>
      </p:sp>
      <p:sp>
        <p:nvSpPr>
          <p:cNvPr id="6" name="prompt-accent">
            <a:extLst xmlns:a="http://schemas.openxmlformats.org/drawingml/2006/main">
              <a:ext uri="{FF2B5EF4-FFF2-40B4-BE49-F238E27FC236}">
                <a16:creationId xmlns:a16="http://schemas.microsoft.com/office/drawing/2014/main" id="{67BCDFD9-B254-4F24-BC66-1CE8A5AD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143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5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lain-language">
            <a:extLst xmlns:a="http://schemas.openxmlformats.org/drawingml/2006/main">
              <a:ext uri="{FF2B5EF4-FFF2-40B4-BE49-F238E27FC236}">
                <a16:creationId xmlns:a16="http://schemas.microsoft.com/office/drawing/2014/main" id="{DDB8C16A-547A-4940-B49A-F08BFE4A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67"/>
                </a:solidFill>
              </a:defRPr>
            </a:pPr>
            <a:r>
              <a:rPr sz="1275" b="1">
                <a:solidFill>
                  <a:srgbClr val="176B67"/>
                </a:solidFill>
              </a:rPr>
              <a:t>WHAT THIS IS ASKING</a:t>
            </a:r>
          </a:p>
        </p:txBody>
      </p:sp>
      <p:sp>
        <p:nvSpPr>
          <p:cNvPr id="8" name="clarify">
            <a:extLst xmlns:a="http://schemas.openxmlformats.org/drawingml/2006/main">
              <a:ext uri="{FF2B5EF4-FFF2-40B4-BE49-F238E27FC236}">
                <a16:creationId xmlns:a16="http://schemas.microsoft.com/office/drawing/2014/main" id="{A9A44B43-3BD2-4797-9160-C498A14A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990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43A"/>
                </a:solidFill>
              </a:defRPr>
            </a:pPr>
            <a:r>
              <a:rPr sz="1800" b="0">
                <a:solidFill>
                  <a:srgbClr val="16343A"/>
                </a:solidFill>
              </a:rPr>
              <a:t>Include sewing-machine, pin, scissor, iron and electrical examples.</a:t>
            </a:r>
          </a:p>
        </p:txBody>
      </p:sp>
      <p:sp>
        <p:nvSpPr>
          <p:cNvPr id="9" name="starter-label">
            <a:extLst xmlns:a="http://schemas.openxmlformats.org/drawingml/2006/main">
              <a:ext uri="{FF2B5EF4-FFF2-40B4-BE49-F238E27FC236}">
                <a16:creationId xmlns:a16="http://schemas.microsoft.com/office/drawing/2014/main" id="{4FD835A0-9FAA-4B08-A4C4-A1402213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5543"/>
                </a:solidFill>
              </a:defRPr>
            </a:pPr>
            <a:r>
              <a:rPr sz="1275" b="1">
                <a:solidFill>
                  <a:srgbClr val="B95543"/>
                </a:solidFill>
              </a:rPr>
              <a:t>STARTER</a:t>
            </a:r>
          </a:p>
        </p:txBody>
      </p:sp>
      <p:sp>
        <p:nvSpPr>
          <p:cNvPr id="10" name="starter">
            <a:extLst xmlns:a="http://schemas.openxmlformats.org/drawingml/2006/main">
              <a:ext uri="{FF2B5EF4-FFF2-40B4-BE49-F238E27FC236}">
                <a16:creationId xmlns:a16="http://schemas.microsoft.com/office/drawing/2014/main" id="{A5114026-21CC-4C71-8D79-96752673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 hazard is… I will control it by…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594B33D3-D780-46DB-8AA1-E9A4F886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76A"/>
                </a:solidFill>
              </a:defRPr>
            </a:pPr>
            <a:r>
              <a:rPr sz="1350" b="1">
                <a:solidFill>
                  <a:srgbClr val="52676A"/>
                </a:solidFill>
              </a:rPr>
              <a:t>Return to the matching website section, complete the ten checks, then save your response.</a:t>
            </a:r>
          </a:p>
        </p:txBody>
      </p:sp>
    </p:spTree>
    <p:extLst>
      <p:ext uri="{BB962C8B-B14F-4D97-AF65-F5344CB8AC3E}">
        <p14:creationId xmlns:p14="http://schemas.microsoft.com/office/powerpoint/2010/main" val="10695381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ule">
            <a:extLst xmlns:a="http://schemas.openxmlformats.org/drawingml/2006/main">
              <a:ext uri="{FF2B5EF4-FFF2-40B4-BE49-F238E27FC236}">
                <a16:creationId xmlns:a16="http://schemas.microsoft.com/office/drawing/2014/main" id="{8427F3CC-8060-4BA7-BFE8-4C8E5F08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FB19B222-BF25-45F9-AD89-DF688F3A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67"/>
                </a:solidFill>
              </a:defRPr>
            </a:pPr>
            <a:r>
              <a:rPr sz="1200" b="1">
                <a:solidFill>
                  <a:srgbClr val="176B67"/>
                </a:solidFill>
              </a:rPr>
              <a:t>LUNCH IS PACKED</a:t>
            </a:r>
          </a:p>
        </p:txBody>
      </p:sp>
      <p:sp>
        <p:nvSpPr>
          <p:cNvPr id="3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FC4BF69A-0CE9-468E-865B-9351EB20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6A"/>
                </a:solidFill>
              </a:defRPr>
            </a:pPr>
            <a:r>
              <a:rPr sz="1050" b="1">
                <a:solidFill>
                  <a:srgbClr val="52676A"/>
                </a:solidFill>
              </a:rPr>
              <a:t>MODULE 4  ·  SECTION 4.3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731C04-FDB0-4CEB-A70C-3CA9D306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43A"/>
                </a:solidFill>
              </a:defRPr>
            </a:pPr>
            <a:r>
              <a:rPr sz="2850" b="1">
                <a:solidFill>
                  <a:srgbClr val="16343A"/>
                </a:solidFill>
              </a:rPr>
              <a:t>4.3 A purposeful equipment list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DBE0687-DA01-4A86-8551-CF230787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6A"/>
                </a:solidFill>
              </a:defRPr>
            </a:pPr>
            <a:r>
              <a:rPr sz="1575" b="0">
                <a:solidFill>
                  <a:srgbClr val="52676A"/>
                </a:solidFill>
              </a:rPr>
              <a:t>Key ideas to understand before you write.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82F51532-6A7F-4ED7-9E7B-32F01807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number-1">
            <a:extLst xmlns:a="http://schemas.openxmlformats.org/drawingml/2006/main">
              <a:ext uri="{FF2B5EF4-FFF2-40B4-BE49-F238E27FC236}">
                <a16:creationId xmlns:a16="http://schemas.microsoft.com/office/drawing/2014/main" id="{9DDD59E3-1FB7-44D6-B82E-8D4B9EFC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43A"/>
                </a:solidFill>
              </a:defRPr>
            </a:pPr>
            <a:r>
              <a:rPr sz="1425" b="1">
                <a:solidFill>
                  <a:srgbClr val="16343A"/>
                </a:solidFill>
              </a:rPr>
              <a:t>1</a:t>
            </a:r>
          </a:p>
        </p:txBody>
      </p:sp>
      <p:sp>
        <p:nvSpPr>
          <p:cNvPr id="8" name="bullet-copy-1">
            <a:extLst xmlns:a="http://schemas.openxmlformats.org/drawingml/2006/main">
              <a:ext uri="{FF2B5EF4-FFF2-40B4-BE49-F238E27FC236}">
                <a16:creationId xmlns:a16="http://schemas.microsoft.com/office/drawing/2014/main" id="{341BA9DE-2BDB-4D69-BD02-D06B464B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The source folio asks students to record the real lining, closure, outer material and any other materials used.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0C9430D6-5132-4734-93B3-17545D85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number-2">
            <a:extLst xmlns:a="http://schemas.openxmlformats.org/drawingml/2006/main">
              <a:ext uri="{FF2B5EF4-FFF2-40B4-BE49-F238E27FC236}">
                <a16:creationId xmlns:a16="http://schemas.microsoft.com/office/drawing/2014/main" id="{AE632DC9-EE16-487E-BFB6-4E574F5E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2</a:t>
            </a:r>
          </a:p>
        </p:txBody>
      </p:sp>
      <p:sp>
        <p:nvSpPr>
          <p:cNvPr id="11" name="bullet-copy-2">
            <a:extLst xmlns:a="http://schemas.openxmlformats.org/drawingml/2006/main">
              <a:ext uri="{FF2B5EF4-FFF2-40B4-BE49-F238E27FC236}">
                <a16:creationId xmlns:a16="http://schemas.microsoft.com/office/drawing/2014/main" id="{08CBD54E-E712-4B80-B81E-29008FF6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671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It also identifies sewing equipment such as the sewing machine, thread, bobbin, bobbin case, pins, pin cushion, tape measure, hand needle, scissors, ironing equipment…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EA95AE47-A34F-4CEB-B2E6-B64D25F5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number-3">
            <a:extLst xmlns:a="http://schemas.openxmlformats.org/drawingml/2006/main">
              <a:ext uri="{FF2B5EF4-FFF2-40B4-BE49-F238E27FC236}">
                <a16:creationId xmlns:a16="http://schemas.microsoft.com/office/drawing/2014/main" id="{59A282BC-AF5F-4C20-A47C-C9BF6E49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B67"/>
                </a:solidFill>
              </a:defRPr>
            </a:pPr>
            <a:r>
              <a:rPr sz="1425" b="1">
                <a:solidFill>
                  <a:srgbClr val="176B67"/>
                </a:solidFill>
              </a:rPr>
              <a:t>3</a:t>
            </a:r>
          </a:p>
        </p:txBody>
      </p:sp>
      <p:sp>
        <p:nvSpPr>
          <p:cNvPr id="14" name="bullet-copy-3">
            <a:extLst xmlns:a="http://schemas.openxmlformats.org/drawingml/2006/main">
              <a:ext uri="{FF2B5EF4-FFF2-40B4-BE49-F238E27FC236}">
                <a16:creationId xmlns:a16="http://schemas.microsoft.com/office/drawing/2014/main" id="{145D93E4-4559-468D-A0B4-156FB50F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33900"/>
            <a:ext cx="962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343A"/>
                </a:solidFill>
              </a:defRPr>
            </a:pPr>
            <a:r>
              <a:rPr sz="1650" b="0">
                <a:solidFill>
                  <a:srgbClr val="16343A"/>
                </a:solidFill>
              </a:rPr>
              <a:t>Your final material list should name only items actually used and include clear, labelled photographs or drawings.</a:t>
            </a:r>
          </a:p>
        </p:txBody>
      </p:sp>
    </p:spTree>
    <p:extLst>
      <p:ext uri="{BB962C8B-B14F-4D97-AF65-F5344CB8AC3E}">
        <p14:creationId xmlns:p14="http://schemas.microsoft.com/office/powerpoint/2010/main" val="17876657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4C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ADCE8C36-CE63-4552-AC83-1646E499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5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C0A33CD6-3D5F-480C-8E0E-EE63B386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A53A"/>
                </a:solidFill>
              </a:defRPr>
            </a:pPr>
            <a:r>
              <a:rPr sz="1350" b="1">
                <a:solidFill>
                  <a:srgbClr val="E0A53A"/>
                </a:solidFill>
              </a:rPr>
              <a:t>MODULE 4 REVIEW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3A490994-13C2-4EAA-9255-7BA62A3D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Show what you understand.</a:t>
            </a:r>
          </a:p>
        </p:txBody>
      </p:sp>
      <p:sp>
        <p:nvSpPr>
          <p:cNvPr id="4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0829E859-D14C-4656-A617-7AB4FF95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1. Revisit all three theory sections.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2. Complete 30 knowledge checks and three guided responses.</a:t>
            </a:r>
          </a:p>
          <a:p xmlns:a="http://schemas.openxmlformats.org/drawingml/2006/main">
            <a:pPr algn="l">
              <a:defRPr sz="2025" b="0">
                <a:solidFill>
                  <a:srgbClr val="E6F2EF"/>
                </a:solidFill>
              </a:defRPr>
            </a:pPr>
            <a:r>
              <a:rPr sz="2025" b="0">
                <a:solidFill>
                  <a:srgbClr val="E6F2EF"/>
                </a:solidFill>
              </a:rPr>
              <a:t>3. Continue Project Activity 4 and keep authentic evidence.</a:t>
            </a:r>
          </a:p>
        </p:txBody>
      </p:sp>
      <p:sp>
        <p:nvSpPr>
          <p:cNvPr id="5" name="closing-boundary">
            <a:extLst xmlns:a="http://schemas.openxmlformats.org/drawingml/2006/main">
              <a:ext uri="{FF2B5EF4-FFF2-40B4-BE49-F238E27FC236}">
                <a16:creationId xmlns:a16="http://schemas.microsoft.com/office/drawing/2014/main" id="{B2AA4367-072B-4794-A5A4-CF860840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98B"/>
                </a:solidFill>
              </a:defRPr>
            </a:pPr>
            <a:r>
              <a:rPr sz="1500" b="1">
                <a:solidFill>
                  <a:srgbClr val="FFD98B"/>
                </a:solidFill>
              </a:rPr>
              <a:t>Exact practical instructions and formal submission arrangements: Teacher to confirm.</a:t>
            </a:r>
          </a:p>
        </p:txBody>
      </p:sp>
    </p:spTree>
    <p:extLst>
      <p:ext uri="{BB962C8B-B14F-4D97-AF65-F5344CB8AC3E}">
        <p14:creationId xmlns:p14="http://schemas.microsoft.com/office/powerpoint/2010/main" val="6095935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2026-08-11T11:10:35.5640000Z</dcterms:created>
  <dcterms:modified xsi:type="dcterms:W3CDTF">2026-08-11T11:10:35.5640000Z</dcterms:modified>
</coreProperties>
</file>