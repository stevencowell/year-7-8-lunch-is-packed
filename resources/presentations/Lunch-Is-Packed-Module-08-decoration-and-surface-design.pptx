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5e7cf13c875468e" /><Relationship Type="http://schemas.openxmlformats.org/officeDocument/2006/relationships/extended-properties" Target="/docProps/app.xml" Id="Rabd10e21405e4765" /><Relationship Type="http://schemas.openxmlformats.org/officeDocument/2006/relationships/officeDocument" Target="/ppt/presentation.xml" Id="Rf3ceaf2e7026425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d51e2d731ea4ea3"/>
  </p:sldMasterIdLst>
  <p:notesMasterIdLst>
    <p:notesMasterId xmlns:r="http://schemas.openxmlformats.org/officeDocument/2006/relationships" r:id="R330941288b934523"/>
  </p:notesMasterIdLst>
  <p:sldIdLst>
    <p:sldId xmlns:r="http://schemas.openxmlformats.org/officeDocument/2006/relationships" id="256" r:id="Rf2eb90b08da2491c"/>
    <p:sldId xmlns:r="http://schemas.openxmlformats.org/officeDocument/2006/relationships" id="257" r:id="Rf862b33fc5b0462b"/>
    <p:sldId xmlns:r="http://schemas.openxmlformats.org/officeDocument/2006/relationships" id="258" r:id="R5d4feec17d3c4810"/>
    <p:sldId xmlns:r="http://schemas.openxmlformats.org/officeDocument/2006/relationships" id="259" r:id="Rea46207e15bd43aa"/>
    <p:sldId xmlns:r="http://schemas.openxmlformats.org/officeDocument/2006/relationships" id="260" r:id="Rdeae8e56cccc4d32"/>
    <p:sldId xmlns:r="http://schemas.openxmlformats.org/officeDocument/2006/relationships" id="261" r:id="R83defcdab3e7491d"/>
    <p:sldId xmlns:r="http://schemas.openxmlformats.org/officeDocument/2006/relationships" id="262" r:id="Rd0dab64c5b444ae6"/>
    <p:sldId xmlns:r="http://schemas.openxmlformats.org/officeDocument/2006/relationships" id="263" r:id="Rc850ae6e166a423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e82aeaff5fe4f26" /><Relationship Type="http://schemas.openxmlformats.org/officeDocument/2006/relationships/slideMaster" Target="/ppt/slideMasters/slideMaster1.xml" Id="Rdd51e2d731ea4ea3" /><Relationship Type="http://schemas.openxmlformats.org/officeDocument/2006/relationships/notesMaster" Target="/ppt/notesMasters/notesMaster1.xml" Id="R330941288b934523" /><Relationship Type="http://schemas.openxmlformats.org/officeDocument/2006/relationships/presProps" Target="/ppt/presProps.xml" Id="Rad2b8d766b194b79" /><Relationship Type="http://schemas.openxmlformats.org/officeDocument/2006/relationships/tableStyles" Target="/ppt/tableStyles.xml" Id="Rcaca20dd0f2f4899" /><Relationship Type="http://schemas.openxmlformats.org/officeDocument/2006/relationships/slide" Target="/ppt/slides/slide1.xml" Id="Rf2eb90b08da2491c" /><Relationship Type="http://schemas.openxmlformats.org/officeDocument/2006/relationships/slide" Target="/ppt/slides/slide2.xml" Id="Rf862b33fc5b0462b" /><Relationship Type="http://schemas.openxmlformats.org/officeDocument/2006/relationships/slide" Target="/ppt/slides/slide3.xml" Id="R5d4feec17d3c4810" /><Relationship Type="http://schemas.openxmlformats.org/officeDocument/2006/relationships/slide" Target="/ppt/slides/slide4.xml" Id="Rea46207e15bd43aa" /><Relationship Type="http://schemas.openxmlformats.org/officeDocument/2006/relationships/slide" Target="/ppt/slides/slide5.xml" Id="Rdeae8e56cccc4d32" /><Relationship Type="http://schemas.openxmlformats.org/officeDocument/2006/relationships/slide" Target="/ppt/slides/slide6.xml" Id="R83defcdab3e7491d" /><Relationship Type="http://schemas.openxmlformats.org/officeDocument/2006/relationships/slide" Target="/ppt/slides/slide7.xml" Id="Rd0dab64c5b444ae6" /><Relationship Type="http://schemas.openxmlformats.org/officeDocument/2006/relationships/slide" Target="/ppt/slides/slide8.xml" Id="Rc850ae6e166a42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71b1412e680485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00c6e66384b48c7" /><Relationship Type="http://schemas.openxmlformats.org/officeDocument/2006/relationships/notesMaster" Target="/ppt/notesMasters/notesMaster1.xml" Id="R8b9726dfd01c4b2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8ff6a0fa8784159" /><Relationship Type="http://schemas.openxmlformats.org/officeDocument/2006/relationships/notesMaster" Target="/ppt/notesMasters/notesMaster1.xml" Id="Rddaf64a3f8094a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10a7a8878244eec" /><Relationship Type="http://schemas.openxmlformats.org/officeDocument/2006/relationships/notesMaster" Target="/ppt/notesMasters/notesMaster1.xml" Id="R535ae9e425704b4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61c066221824da4" /><Relationship Type="http://schemas.openxmlformats.org/officeDocument/2006/relationships/notesMaster" Target="/ppt/notesMasters/notesMaster1.xml" Id="Rf2dab8922dc64de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a71e374628145d0" /><Relationship Type="http://schemas.openxmlformats.org/officeDocument/2006/relationships/notesMaster" Target="/ppt/notesMasters/notesMaster1.xml" Id="Rf2a02c13d9074f1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b4e82cdabc144f8" /><Relationship Type="http://schemas.openxmlformats.org/officeDocument/2006/relationships/notesMaster" Target="/ppt/notesMasters/notesMaster1.xml" Id="Rfe9a05efe2a340e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5da2aa33abf462a" /><Relationship Type="http://schemas.openxmlformats.org/officeDocument/2006/relationships/notesMaster" Target="/ppt/notesMasters/notesMaster1.xml" Id="R929770d0689749e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51bab6135df47f1" /><Relationship Type="http://schemas.openxmlformats.org/officeDocument/2006/relationships/notesMaster" Target="/ppt/notesMasters/notesMaster1.xml" Id="R1e6dd863d02d4b4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connecting this module to the student project and current teacher instructions.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should write their own response. The website provides steps and an appropriate response example without revealing quiz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should write their own response. The website provides steps and an appropriate response example without revealing quiz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website module and project activity for the interactive evidence tasks.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a9c5a1ce1c407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7cbae9845e34dad" /><Relationship Type="http://schemas.openxmlformats.org/officeDocument/2006/relationships/slideLayout" Target="/ppt/slideLayouts/slideLayout1.xml" Id="R21497ee81c60415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1497ee81c60415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41cf2e5bc54540" /><Relationship Type="http://schemas.openxmlformats.org/officeDocument/2006/relationships/image" Target="/ppt/media/image.png" Id="Ra3c7f419ac0749df" /><Relationship Type="http://schemas.openxmlformats.org/officeDocument/2006/relationships/notesSlide" Target="/ppt/notesSlides/notesSlide1.xml" Id="Rca4ae6bdc4824fc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013deb2c7543e0" /><Relationship Type="http://schemas.openxmlformats.org/officeDocument/2006/relationships/notesSlide" Target="/ppt/notesSlides/notesSlide2.xml" Id="Re6e95c344af14c4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bc8ce80817439a" /><Relationship Type="http://schemas.openxmlformats.org/officeDocument/2006/relationships/notesSlide" Target="/ppt/notesSlides/notesSlide3.xml" Id="R3a95328274d2431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0930acedfc46e3" /><Relationship Type="http://schemas.openxmlformats.org/officeDocument/2006/relationships/notesSlide" Target="/ppt/notesSlides/notesSlide4.xml" Id="Rde8c7af154a94c3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60d3eb9df949d1" /><Relationship Type="http://schemas.openxmlformats.org/officeDocument/2006/relationships/notesSlide" Target="/ppt/notesSlides/notesSlide5.xml" Id="Reb66f8302fd14f5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5179be6ad34e6c" /><Relationship Type="http://schemas.openxmlformats.org/officeDocument/2006/relationships/notesSlide" Target="/ppt/notesSlides/notesSlide6.xml" Id="Rf341b760d5044e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af4868588d4d65" /><Relationship Type="http://schemas.openxmlformats.org/officeDocument/2006/relationships/notesSlide" Target="/ppt/notesSlides/notesSlide7.xml" Id="R16d492a3ec1c448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01fe6d775747b5" /><Relationship Type="http://schemas.openxmlformats.org/officeDocument/2006/relationships/notesSlide" Target="/ppt/notesSlides/notesSlide8.xml" Id="R122962af518a414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plane">
            <a:extLst xmlns:a="http://schemas.openxmlformats.org/drawingml/2006/main">
              <a:ext uri="{FF2B5EF4-FFF2-40B4-BE49-F238E27FC236}">
                <a16:creationId xmlns:a16="http://schemas.microsoft.com/office/drawing/2014/main" id="{44F4B29F-EC74-4477-9650-410953A65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239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4C4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c7f419ac0749df"/>
          <a:srcRect xmlns:a="http://schemas.openxmlformats.org/drawingml/2006/main" l="24074" t="0" r="2407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0" y="0"/>
            <a:ext cx="5334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895EB54D-A071-4E30-8EC7-CBEF762BC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495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0A53A"/>
                </a:solidFill>
              </a:defRPr>
            </a:pPr>
            <a:r>
              <a:rPr sz="1350" b="1">
                <a:solidFill>
                  <a:srgbClr val="E0A53A"/>
                </a:solidFill>
              </a:rPr>
              <a:t>MODULE 8 OF 10</a:t>
            </a:r>
          </a:p>
        </p:txBody>
      </p:sp>
      <p:sp>
        <p:nvSpPr>
          <p:cNvPr id="4" name="deck-title">
            <a:extLst xmlns:a="http://schemas.openxmlformats.org/drawingml/2006/main">
              <a:ext uri="{FF2B5EF4-FFF2-40B4-BE49-F238E27FC236}">
                <a16:creationId xmlns:a16="http://schemas.microsoft.com/office/drawing/2014/main" id="{329C7F14-3140-49F5-8297-1527EFF6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56197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Decoration and surface design</a:t>
            </a:r>
          </a:p>
        </p:txBody>
      </p:sp>
      <p:sp>
        <p:nvSpPr>
          <p:cNvPr id="5" name="deck-subtitle">
            <a:extLst xmlns:a="http://schemas.openxmlformats.org/drawingml/2006/main">
              <a:ext uri="{FF2B5EF4-FFF2-40B4-BE49-F238E27FC236}">
                <a16:creationId xmlns:a16="http://schemas.microsoft.com/office/drawing/2014/main" id="{B5CCAC3D-7ABF-4FC9-9019-4F09AA88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5429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E6F2EF"/>
                </a:solidFill>
              </a:defRPr>
            </a:pPr>
            <a:r>
              <a:rPr sz="1875" b="0">
                <a:solidFill>
                  <a:srgbClr val="E6F2EF"/>
                </a:solidFill>
              </a:rPr>
              <a:t>Use colour, shape and appliqué purposefully.</a:t>
            </a:r>
          </a:p>
        </p:txBody>
      </p:sp>
      <p:sp>
        <p:nvSpPr>
          <p:cNvPr id="6" name="deck-footer">
            <a:extLst xmlns:a="http://schemas.openxmlformats.org/drawingml/2006/main">
              <a:ext uri="{FF2B5EF4-FFF2-40B4-BE49-F238E27FC236}">
                <a16:creationId xmlns:a16="http://schemas.microsoft.com/office/drawing/2014/main" id="{CFF88233-A76B-4F8F-B75A-BFB3FFE1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61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FD9D6"/>
                </a:solidFill>
              </a:defRPr>
            </a:pPr>
            <a:r>
              <a:rPr sz="1200" b="0">
                <a:solidFill>
                  <a:srgbClr val="BFD9D6"/>
                </a:solidFill>
              </a:rPr>
              <a:t>Year 7/8 Technology Mandatory · Student learning presentation</a:t>
            </a:r>
          </a:p>
        </p:txBody>
      </p:sp>
    </p:spTree>
    <p:extLst>
      <p:ext uri="{BB962C8B-B14F-4D97-AF65-F5344CB8AC3E}">
        <p14:creationId xmlns:p14="http://schemas.microsoft.com/office/powerpoint/2010/main" val="13841170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70329127-D707-47E5-B162-7715B77E4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9FECE1A2-A08F-44B1-9928-00B6BE14A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1F9C16C4-5D43-4770-BCE7-38AFA15AF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8  ·  LEARNING PATH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091CC64-531C-49A5-BAEF-BC00B3E8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Three ideas build one design decision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C56DCFA-F0AA-4B99-9446-AB7290D52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Read, notice, explain and apply each section in order.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B6966DED-EC44-4475-A88A-2AB802E64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290E5366-A0FD-4B1C-B8FE-D036FD76A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4E92AB59-FACF-4D84-B6B4-77C17BFAE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8.1 Visual design choices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8D6F9A8D-DB75-4756-8C5E-A32F9ED06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0EFB0D5C-442E-4657-AFAC-1C0E7A89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B766C7AB-F776-4907-A300-36761FD12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8.2 Appliqué as a technique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EC6F5E11-E7A6-4E3C-A6A0-700A22B01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A5ECECA8-D92D-4D02-B391-A3F4A1227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C8C9523F-2094-4BEF-9495-B16072957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8.3 Test before committing</a:t>
            </a:r>
          </a:p>
        </p:txBody>
      </p:sp>
    </p:spTree>
    <p:extLst>
      <p:ext uri="{BB962C8B-B14F-4D97-AF65-F5344CB8AC3E}">
        <p14:creationId xmlns:p14="http://schemas.microsoft.com/office/powerpoint/2010/main" val="10447213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DFC8344A-3198-432C-B895-0D52254D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B5ADCAFC-D3E4-4219-BC0A-F4F0EC994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A1A99A05-8E16-4908-BEE4-CA59C051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8  ·  SECTION 8.1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B864635-14C0-4A8E-9C55-059477CED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8.1 Visual design choices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68FEA2D-91A0-4980-983B-4136E4B6D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3F6A8148-3A1D-4B22-94BB-8C2D32E57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891B623A-EDDF-487E-B801-2BC6C6B9B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31AB700D-E6BB-4308-8071-D7EDFB6A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Colour, line, shape, texture, pattern and proportion influence how a textile product communicates.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C7E2A464-F850-4BBF-BDFF-034F57424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C3657B33-BE42-41BE-B8C0-F9578DF01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78A9A428-BD8E-445D-A775-DC3A0330A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Use contrast so a motif is visible, repetition to create rhythm, scale to suit the available area and proportion so decoration supports rather than overwhelms the form.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565923D9-0886-4C79-9A00-B18EF4DA8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33CE468E-C23A-4A1C-85F6-BC1924DD8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E0FBA15E-C895-403E-8197-F3AA3AD9C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A motif that looks balanced alone may clash with a seam, closure or handle once positioned on the bag.</a:t>
            </a:r>
          </a:p>
        </p:txBody>
      </p:sp>
    </p:spTree>
    <p:extLst>
      <p:ext uri="{BB962C8B-B14F-4D97-AF65-F5344CB8AC3E}">
        <p14:creationId xmlns:p14="http://schemas.microsoft.com/office/powerpoint/2010/main" val="3598428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E9D83F1E-B35B-42CC-BA7E-3D699442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F4993F4F-EE6D-4B76-B6FB-4B134711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D982B15A-7B88-4D0E-9758-A4969CD51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8  ·  APPLY THE THEORY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BE68867-C7E9-4915-82AF-736B90698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Make the theory visible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6988C2D-E8FE-40B9-BE9E-0D5F10E9D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Develop a colour and surface-design plan.</a:t>
            </a:r>
          </a:p>
        </p:txBody>
      </p:sp>
      <p:sp>
        <p:nvSpPr>
          <p:cNvPr id="6" name="prompt-accent">
            <a:extLst xmlns:a="http://schemas.openxmlformats.org/drawingml/2006/main">
              <a:ext uri="{FF2B5EF4-FFF2-40B4-BE49-F238E27FC236}">
                <a16:creationId xmlns:a16="http://schemas.microsoft.com/office/drawing/2014/main" id="{82481304-3AE6-49FC-A5C8-C2923237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143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lain-language">
            <a:extLst xmlns:a="http://schemas.openxmlformats.org/drawingml/2006/main">
              <a:ext uri="{FF2B5EF4-FFF2-40B4-BE49-F238E27FC236}">
                <a16:creationId xmlns:a16="http://schemas.microsoft.com/office/drawing/2014/main" id="{3B46ECB5-48E9-4E10-B571-40824AA4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B67"/>
                </a:solidFill>
              </a:defRPr>
            </a:pPr>
            <a:r>
              <a:rPr sz="1275" b="1">
                <a:solidFill>
                  <a:srgbClr val="176B67"/>
                </a:solidFill>
              </a:rPr>
              <a:t>WHAT THIS IS ASKING</a:t>
            </a:r>
          </a:p>
        </p:txBody>
      </p:sp>
      <p:sp>
        <p:nvSpPr>
          <p:cNvPr id="8" name="clarify">
            <a:extLst xmlns:a="http://schemas.openxmlformats.org/drawingml/2006/main">
              <a:ext uri="{FF2B5EF4-FFF2-40B4-BE49-F238E27FC236}">
                <a16:creationId xmlns:a16="http://schemas.microsoft.com/office/drawing/2014/main" id="{317A6B53-EC25-4441-A2C2-1881DEB3C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1462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A"/>
                </a:solidFill>
              </a:defRPr>
            </a:pPr>
            <a:r>
              <a:rPr sz="1800" b="0">
                <a:solidFill>
                  <a:srgbClr val="16343A"/>
                </a:solidFill>
              </a:rPr>
              <a:t>Explain how elements and principles support the intended user and product identity.</a:t>
            </a:r>
          </a:p>
        </p:txBody>
      </p:sp>
      <p:sp>
        <p:nvSpPr>
          <p:cNvPr id="9" name="starter-label">
            <a:extLst xmlns:a="http://schemas.openxmlformats.org/drawingml/2006/main">
              <a:ext uri="{FF2B5EF4-FFF2-40B4-BE49-F238E27FC236}">
                <a16:creationId xmlns:a16="http://schemas.microsoft.com/office/drawing/2014/main" id="{32BFE0EF-7337-40C6-9E9D-C5B170025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576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5543"/>
                </a:solidFill>
              </a:defRPr>
            </a:pPr>
            <a:r>
              <a:rPr sz="1275" b="1">
                <a:solidFill>
                  <a:srgbClr val="B95543"/>
                </a:solidFill>
              </a:rPr>
              <a:t>STARTER</a:t>
            </a:r>
          </a:p>
        </p:txBody>
      </p:sp>
      <p:sp>
        <p:nvSpPr>
          <p:cNvPr id="10" name="starter">
            <a:extLst xmlns:a="http://schemas.openxmlformats.org/drawingml/2006/main">
              <a:ext uri="{FF2B5EF4-FFF2-40B4-BE49-F238E27FC236}">
                <a16:creationId xmlns:a16="http://schemas.microsoft.com/office/drawing/2014/main" id="{362005B0-8898-42E3-A1C2-FDE5436A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I will use… because…</a:t>
            </a:r>
          </a:p>
        </p:txBody>
      </p:sp>
      <p:sp>
        <p:nvSpPr>
          <p:cNvPr id="11" name="action">
            <a:extLst xmlns:a="http://schemas.openxmlformats.org/drawingml/2006/main">
              <a:ext uri="{FF2B5EF4-FFF2-40B4-BE49-F238E27FC236}">
                <a16:creationId xmlns:a16="http://schemas.microsoft.com/office/drawing/2014/main" id="{5EEDC9E1-0013-4677-B2C3-B13D866D1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6A"/>
                </a:solidFill>
              </a:defRPr>
            </a:pPr>
            <a:r>
              <a:rPr sz="1350" b="1">
                <a:solidFill>
                  <a:srgbClr val="52676A"/>
                </a:solidFill>
              </a:rPr>
              <a:t>Return to the matching website section, complete the ten checks, then save your response.</a:t>
            </a:r>
          </a:p>
        </p:txBody>
      </p:sp>
    </p:spTree>
    <p:extLst>
      <p:ext uri="{BB962C8B-B14F-4D97-AF65-F5344CB8AC3E}">
        <p14:creationId xmlns:p14="http://schemas.microsoft.com/office/powerpoint/2010/main" val="17928382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6F2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87AC6D2C-6397-4395-A21B-D2E11B29C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D8932EBC-2CE3-46E1-BC9D-559CEEBF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AE68A16B-460B-4109-B851-A1200398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8  ·  SECTION 8.2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2AF398A-93C2-445A-AC8A-07591438A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8.2 Appliqué as a technique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E1A8DF9-A27A-43F1-BFDE-6AD3D4930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C2471703-1CCC-4845-B274-99777E54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F347BA6D-5A60-4DAF-978D-2EFCCED7F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91D80DDF-2908-4E38-8BC5-881B66DD5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Appliqué places one fabric shape onto another surface and secures it with stitching or another approved method.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7C7B8FB5-9EF0-4822-8BEE-166C4E1F2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6A3CE35A-567D-4109-9ED6-951398F61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47B95F5F-BB8D-4782-AFA0-A58CB5FD0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Applique quality depends on a chain of decisions: template accuracy, grain and fabric behaviour, cutting control, placement, temporary holding, edge treatment and sti…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879930D4-0368-458F-86BA-71600FFF8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3137FAA4-9D19-4D49-9C51-A5D74AC1D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E5C7D91D-5772-4AEE-9B24-758BD87BB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They can be easier to cut and control, more readable from a distance and more durable around edges than shapes with many tight corners.</a:t>
            </a:r>
          </a:p>
        </p:txBody>
      </p:sp>
    </p:spTree>
    <p:extLst>
      <p:ext uri="{BB962C8B-B14F-4D97-AF65-F5344CB8AC3E}">
        <p14:creationId xmlns:p14="http://schemas.microsoft.com/office/powerpoint/2010/main" val="8640969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FD50FCE7-BB6B-4545-BE26-2205F3DD0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89F04535-1FE6-44D1-9A40-344BF7110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4E7D5EAD-47D7-49BD-9A89-146265509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8  ·  APPLY THE THEORY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8AD1ECF-E144-4A78-B666-AB57C74B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Use evidence, not guesses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94955FF-FBD9-4712-95C7-9858DE5D8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Plan an appliqué feature for the lunch bag.</a:t>
            </a:r>
          </a:p>
        </p:txBody>
      </p:sp>
      <p:sp>
        <p:nvSpPr>
          <p:cNvPr id="6" name="prompt-accent">
            <a:extLst xmlns:a="http://schemas.openxmlformats.org/drawingml/2006/main">
              <a:ext uri="{FF2B5EF4-FFF2-40B4-BE49-F238E27FC236}">
                <a16:creationId xmlns:a16="http://schemas.microsoft.com/office/drawing/2014/main" id="{08C853AA-0E31-45DF-8036-4F55A6FEF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143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55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lain-language">
            <a:extLst xmlns:a="http://schemas.openxmlformats.org/drawingml/2006/main">
              <a:ext uri="{FF2B5EF4-FFF2-40B4-BE49-F238E27FC236}">
                <a16:creationId xmlns:a16="http://schemas.microsoft.com/office/drawing/2014/main" id="{0542C19C-2EBF-41EC-A8F9-9B76AAE7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B67"/>
                </a:solidFill>
              </a:defRPr>
            </a:pPr>
            <a:r>
              <a:rPr sz="1275" b="1">
                <a:solidFill>
                  <a:srgbClr val="176B67"/>
                </a:solidFill>
              </a:rPr>
              <a:t>WHAT THIS IS ASKING</a:t>
            </a:r>
          </a:p>
        </p:txBody>
      </p:sp>
      <p:sp>
        <p:nvSpPr>
          <p:cNvPr id="8" name="clarify">
            <a:extLst xmlns:a="http://schemas.openxmlformats.org/drawingml/2006/main">
              <a:ext uri="{FF2B5EF4-FFF2-40B4-BE49-F238E27FC236}">
                <a16:creationId xmlns:a16="http://schemas.microsoft.com/office/drawing/2014/main" id="{26803AD8-A8B9-43DB-AAA2-4860B7901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1462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A"/>
                </a:solidFill>
              </a:defRPr>
            </a:pPr>
            <a:r>
              <a:rPr sz="1800" b="0">
                <a:solidFill>
                  <a:srgbClr val="16343A"/>
                </a:solidFill>
              </a:rPr>
              <a:t>Describe purpose, shape, placement and the teacher-controlled production details.</a:t>
            </a:r>
          </a:p>
        </p:txBody>
      </p:sp>
      <p:sp>
        <p:nvSpPr>
          <p:cNvPr id="9" name="starter-label">
            <a:extLst xmlns:a="http://schemas.openxmlformats.org/drawingml/2006/main">
              <a:ext uri="{FF2B5EF4-FFF2-40B4-BE49-F238E27FC236}">
                <a16:creationId xmlns:a16="http://schemas.microsoft.com/office/drawing/2014/main" id="{F678BA2E-8E74-4D88-B05E-031418B66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576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5543"/>
                </a:solidFill>
              </a:defRPr>
            </a:pPr>
            <a:r>
              <a:rPr sz="1275" b="1">
                <a:solidFill>
                  <a:srgbClr val="B95543"/>
                </a:solidFill>
              </a:rPr>
              <a:t>STARTER</a:t>
            </a:r>
          </a:p>
        </p:txBody>
      </p:sp>
      <p:sp>
        <p:nvSpPr>
          <p:cNvPr id="10" name="starter">
            <a:extLst xmlns:a="http://schemas.openxmlformats.org/drawingml/2006/main">
              <a:ext uri="{FF2B5EF4-FFF2-40B4-BE49-F238E27FC236}">
                <a16:creationId xmlns:a16="http://schemas.microsoft.com/office/drawing/2014/main" id="{70581E17-14AE-4DAE-AEBA-1677AA2CA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My appliqué will… It is placed… The approved method is…</a:t>
            </a:r>
          </a:p>
        </p:txBody>
      </p:sp>
      <p:sp>
        <p:nvSpPr>
          <p:cNvPr id="11" name="action">
            <a:extLst xmlns:a="http://schemas.openxmlformats.org/drawingml/2006/main">
              <a:ext uri="{FF2B5EF4-FFF2-40B4-BE49-F238E27FC236}">
                <a16:creationId xmlns:a16="http://schemas.microsoft.com/office/drawing/2014/main" id="{6455593E-7869-4E2D-992D-A63B7232A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6A"/>
                </a:solidFill>
              </a:defRPr>
            </a:pPr>
            <a:r>
              <a:rPr sz="1350" b="1">
                <a:solidFill>
                  <a:srgbClr val="52676A"/>
                </a:solidFill>
              </a:rPr>
              <a:t>Return to the matching website section, complete the ten checks, then save your response.</a:t>
            </a:r>
          </a:p>
        </p:txBody>
      </p:sp>
    </p:spTree>
    <p:extLst>
      <p:ext uri="{BB962C8B-B14F-4D97-AF65-F5344CB8AC3E}">
        <p14:creationId xmlns:p14="http://schemas.microsoft.com/office/powerpoint/2010/main" val="5816194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5CD73125-1DB9-4094-B112-E30E9EB0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DBB9DC05-BD85-4762-B4D1-29768AEE3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C37A2E76-6010-4506-80EB-095835C7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8  ·  SECTION 8.3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B9B5252-9064-4A76-9B6D-37732C9A1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8.3 Test before committing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4ADACD3-D8A1-4B43-8F61-3B0EAF828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09DD71DE-B55E-4A9D-ACD1-839D37664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7BFF37A9-2271-4418-855B-66E25D29A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534CC043-A648-46C8-B735-CE11FFEE0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A sample lets you check colour contrast, edge finish, stitch appearance, fabric behaviour and the time needed.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77EDDD4F-5EFB-47A8-8E3E-048CF89AC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DA53EC85-2769-444C-99E9-4BD9B7B2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DF8B541D-C7CB-43DE-8CC3-85E8B0F19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Keep the question focused: Does the colour contrast work?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29B32BA4-1B2B-4E4C-B52F-F67820671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100743F3-E537-40B0-AF34-E3519A5E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83296B3D-221C-4ACB-A3FE-129C9885B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Record the setup, observe the result and change one feature before repeating when time allows.</a:t>
            </a:r>
          </a:p>
        </p:txBody>
      </p:sp>
    </p:spTree>
    <p:extLst>
      <p:ext uri="{BB962C8B-B14F-4D97-AF65-F5344CB8AC3E}">
        <p14:creationId xmlns:p14="http://schemas.microsoft.com/office/powerpoint/2010/main" val="181770239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4C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losing-rule">
            <a:extLst xmlns:a="http://schemas.openxmlformats.org/drawingml/2006/main">
              <a:ext uri="{FF2B5EF4-FFF2-40B4-BE49-F238E27FC236}">
                <a16:creationId xmlns:a16="http://schemas.microsoft.com/office/drawing/2014/main" id="{9DEF785C-4E4D-4BB5-AA00-84F786A8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losing-kicker">
            <a:extLst xmlns:a="http://schemas.openxmlformats.org/drawingml/2006/main">
              <a:ext uri="{FF2B5EF4-FFF2-40B4-BE49-F238E27FC236}">
                <a16:creationId xmlns:a16="http://schemas.microsoft.com/office/drawing/2014/main" id="{1C46CCD5-8076-4180-8817-E34AD1C9B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0A53A"/>
                </a:solidFill>
              </a:defRPr>
            </a:pPr>
            <a:r>
              <a:rPr sz="1350" b="1">
                <a:solidFill>
                  <a:srgbClr val="E0A53A"/>
                </a:solidFill>
              </a:rPr>
              <a:t>MODULE 8 REVIEW</a:t>
            </a:r>
          </a:p>
        </p:txBody>
      </p:sp>
      <p:sp>
        <p:nvSpPr>
          <p:cNvPr id="3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09946E13-2D0A-447F-B94F-E706D9DC5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620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Show what you understand.</a:t>
            </a:r>
          </a:p>
        </p:txBody>
      </p:sp>
      <p:sp>
        <p:nvSpPr>
          <p:cNvPr id="4" name="closing-copy">
            <a:extLst xmlns:a="http://schemas.openxmlformats.org/drawingml/2006/main">
              <a:ext uri="{FF2B5EF4-FFF2-40B4-BE49-F238E27FC236}">
                <a16:creationId xmlns:a16="http://schemas.microsoft.com/office/drawing/2014/main" id="{0B28EF6B-C5D9-458B-947C-F4618CE8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857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1. Revisit all three theory sections.</a:t>
            </a:r>
          </a:p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2. Complete 30 knowledge checks and three guided responses.</a:t>
            </a:r>
          </a:p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3. Continue the Designer and appliqué sample studio and keep authentic evidence.</a:t>
            </a:r>
          </a:p>
        </p:txBody>
      </p:sp>
      <p:sp>
        <p:nvSpPr>
          <p:cNvPr id="5" name="closing-boundary">
            <a:extLst xmlns:a="http://schemas.openxmlformats.org/drawingml/2006/main">
              <a:ext uri="{FF2B5EF4-FFF2-40B4-BE49-F238E27FC236}">
                <a16:creationId xmlns:a16="http://schemas.microsoft.com/office/drawing/2014/main" id="{C79198AB-9CC0-4950-BE76-495DAA68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D98B"/>
                </a:solidFill>
              </a:defRPr>
            </a:pPr>
            <a:r>
              <a:rPr sz="1500" b="1">
                <a:solidFill>
                  <a:srgbClr val="FFD98B"/>
                </a:solidFill>
              </a:rPr>
              <a:t>Exact practical instructions and formal submission arrangements: Teacher to confirm.</a:t>
            </a:r>
          </a:p>
        </p:txBody>
      </p:sp>
    </p:spTree>
    <p:extLst>
      <p:ext uri="{BB962C8B-B14F-4D97-AF65-F5344CB8AC3E}">
        <p14:creationId xmlns:p14="http://schemas.microsoft.com/office/powerpoint/2010/main" val="9091893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2026-08-11T12:15:45.0810000Z</dcterms:created>
  <dcterms:modified xsi:type="dcterms:W3CDTF">2026-08-11T12:15:45.0810000Z</dcterms:modified>
</coreProperties>
</file>