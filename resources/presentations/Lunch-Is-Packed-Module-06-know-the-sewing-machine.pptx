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487c71dfe24342" /><Relationship Type="http://schemas.openxmlformats.org/officeDocument/2006/relationships/extended-properties" Target="/docProps/app.xml" Id="Rc04643bb05b04629" /><Relationship Type="http://schemas.openxmlformats.org/officeDocument/2006/relationships/officeDocument" Target="/ppt/presentation.xml" Id="Re2a465a8eadb4e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088bb5d5a24fc3"/>
  </p:sldMasterIdLst>
  <p:notesMasterIdLst>
    <p:notesMasterId xmlns:r="http://schemas.openxmlformats.org/officeDocument/2006/relationships" r:id="Rec9ec311bee64a3f"/>
  </p:notesMasterIdLst>
  <p:sldIdLst>
    <p:sldId xmlns:r="http://schemas.openxmlformats.org/officeDocument/2006/relationships" id="256" r:id="Rf222e4b3004f4a9b"/>
    <p:sldId xmlns:r="http://schemas.openxmlformats.org/officeDocument/2006/relationships" id="257" r:id="R226cd1855b254a11"/>
    <p:sldId xmlns:r="http://schemas.openxmlformats.org/officeDocument/2006/relationships" id="258" r:id="R83d86d385d9f4be8"/>
    <p:sldId xmlns:r="http://schemas.openxmlformats.org/officeDocument/2006/relationships" id="259" r:id="R08f71687b9244097"/>
    <p:sldId xmlns:r="http://schemas.openxmlformats.org/officeDocument/2006/relationships" id="260" r:id="R044f4fa28a16497f"/>
    <p:sldId xmlns:r="http://schemas.openxmlformats.org/officeDocument/2006/relationships" id="261" r:id="Rff03c674ac8d4a45"/>
    <p:sldId xmlns:r="http://schemas.openxmlformats.org/officeDocument/2006/relationships" id="262" r:id="R7bec5ecc344b41df"/>
    <p:sldId xmlns:r="http://schemas.openxmlformats.org/officeDocument/2006/relationships" id="263" r:id="Rfe500ae4c0894a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aab97d7d464e53" /><Relationship Type="http://schemas.openxmlformats.org/officeDocument/2006/relationships/slideMaster" Target="/ppt/slideMasters/slideMaster1.xml" Id="Rd5088bb5d5a24fc3" /><Relationship Type="http://schemas.openxmlformats.org/officeDocument/2006/relationships/notesMaster" Target="/ppt/notesMasters/notesMaster1.xml" Id="Rec9ec311bee64a3f" /><Relationship Type="http://schemas.openxmlformats.org/officeDocument/2006/relationships/presProps" Target="/ppt/presProps.xml" Id="R38c240a053234021" /><Relationship Type="http://schemas.openxmlformats.org/officeDocument/2006/relationships/tableStyles" Target="/ppt/tableStyles.xml" Id="R784cbfe91ff345bd" /><Relationship Type="http://schemas.openxmlformats.org/officeDocument/2006/relationships/slide" Target="/ppt/slides/slide1.xml" Id="Rf222e4b3004f4a9b" /><Relationship Type="http://schemas.openxmlformats.org/officeDocument/2006/relationships/slide" Target="/ppt/slides/slide2.xml" Id="R226cd1855b254a11" /><Relationship Type="http://schemas.openxmlformats.org/officeDocument/2006/relationships/slide" Target="/ppt/slides/slide3.xml" Id="R83d86d385d9f4be8" /><Relationship Type="http://schemas.openxmlformats.org/officeDocument/2006/relationships/slide" Target="/ppt/slides/slide4.xml" Id="R08f71687b9244097" /><Relationship Type="http://schemas.openxmlformats.org/officeDocument/2006/relationships/slide" Target="/ppt/slides/slide5.xml" Id="R044f4fa28a16497f" /><Relationship Type="http://schemas.openxmlformats.org/officeDocument/2006/relationships/slide" Target="/ppt/slides/slide6.xml" Id="Rff03c674ac8d4a45" /><Relationship Type="http://schemas.openxmlformats.org/officeDocument/2006/relationships/slide" Target="/ppt/slides/slide7.xml" Id="R7bec5ecc344b41df" /><Relationship Type="http://schemas.openxmlformats.org/officeDocument/2006/relationships/slide" Target="/ppt/slides/slide8.xml" Id="Rfe500ae4c0894a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09b98f9c5146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d83573ddea4ed2" /><Relationship Type="http://schemas.openxmlformats.org/officeDocument/2006/relationships/notesMaster" Target="/ppt/notesMasters/notesMaster1.xml" Id="R933d259bf86049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f4842f7ca448fb" /><Relationship Type="http://schemas.openxmlformats.org/officeDocument/2006/relationships/notesMaster" Target="/ppt/notesMasters/notesMaster1.xml" Id="Ree2869d7536e48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d951aa415d4f9c" /><Relationship Type="http://schemas.openxmlformats.org/officeDocument/2006/relationships/notesMaster" Target="/ppt/notesMasters/notesMaster1.xml" Id="R6dd09a8a540c48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74928570384da2" /><Relationship Type="http://schemas.openxmlformats.org/officeDocument/2006/relationships/notesMaster" Target="/ppt/notesMasters/notesMaster1.xml" Id="Rfb6d4248165442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d7853b4a2845e7" /><Relationship Type="http://schemas.openxmlformats.org/officeDocument/2006/relationships/notesMaster" Target="/ppt/notesMasters/notesMaster1.xml" Id="Ra3e1e9d1d7324e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8baf77ec3e4468" /><Relationship Type="http://schemas.openxmlformats.org/officeDocument/2006/relationships/notesMaster" Target="/ppt/notesMasters/notesMaster1.xml" Id="R14a4c168c0c040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54fbee59704311" /><Relationship Type="http://schemas.openxmlformats.org/officeDocument/2006/relationships/notesMaster" Target="/ppt/notesMasters/notesMaster1.xml" Id="R1f1983ccb29f4f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159221b1d44c01" /><Relationship Type="http://schemas.openxmlformats.org/officeDocument/2006/relationships/notesMaster" Target="/ppt/notesMasters/notesMaster1.xml" Id="R5a685f90242647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connecting this module to the student project and current teacher instructions.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write their own response. The website provides steps and an appropriate response example without revealing quiz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write their own response. The website provides steps and an appropriate response example without revealing quiz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website module and project activity for the interactive evidence tasks.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d225f4b98140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cad519fbeb4089" /><Relationship Type="http://schemas.openxmlformats.org/officeDocument/2006/relationships/slideLayout" Target="/ppt/slideLayouts/slideLayout1.xml" Id="R8239e0ab238343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39e0ab238343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aaf41cd104917" /><Relationship Type="http://schemas.openxmlformats.org/officeDocument/2006/relationships/image" Target="/ppt/media/image.png" Id="Ra96f91a237734900" /><Relationship Type="http://schemas.openxmlformats.org/officeDocument/2006/relationships/notesSlide" Target="/ppt/notesSlides/notesSlide1.xml" Id="R6dc6e99e08d64f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11d9518a54208" /><Relationship Type="http://schemas.openxmlformats.org/officeDocument/2006/relationships/notesSlide" Target="/ppt/notesSlides/notesSlide2.xml" Id="R5e6429c5e48148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ad23a7ed54694" /><Relationship Type="http://schemas.openxmlformats.org/officeDocument/2006/relationships/notesSlide" Target="/ppt/notesSlides/notesSlide3.xml" Id="R04f5e9416f9045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f07962320499a" /><Relationship Type="http://schemas.openxmlformats.org/officeDocument/2006/relationships/notesSlide" Target="/ppt/notesSlides/notesSlide4.xml" Id="Ra1a5d73fc4da4e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493989b3c4db2" /><Relationship Type="http://schemas.openxmlformats.org/officeDocument/2006/relationships/notesSlide" Target="/ppt/notesSlides/notesSlide5.xml" Id="R75d995e2cfbe4d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f1f95128f4973" /><Relationship Type="http://schemas.openxmlformats.org/officeDocument/2006/relationships/notesSlide" Target="/ppt/notesSlides/notesSlide6.xml" Id="Rfe7a19a45c3a44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c172f74a14534" /><Relationship Type="http://schemas.openxmlformats.org/officeDocument/2006/relationships/notesSlide" Target="/ppt/notesSlides/notesSlide7.xml" Id="R8aca12b296ac47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5563c978f4307" /><Relationship Type="http://schemas.openxmlformats.org/officeDocument/2006/relationships/notesSlide" Target="/ppt/notesSlides/notesSlide8.xml" Id="R95e2a4c705674b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plane">
            <a:extLst xmlns:a="http://schemas.openxmlformats.org/drawingml/2006/main">
              <a:ext uri="{FF2B5EF4-FFF2-40B4-BE49-F238E27FC236}">
                <a16:creationId xmlns:a16="http://schemas.microsoft.com/office/drawing/2014/main" id="{8B26E829-A247-4C92-808D-71304AA4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C4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f91a237734900"/>
          <a:srcRect xmlns:a="http://schemas.openxmlformats.org/drawingml/2006/main" l="24074" t="0" r="240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module-kicker">
            <a:extLst xmlns:a="http://schemas.openxmlformats.org/drawingml/2006/main">
              <a:ext uri="{FF2B5EF4-FFF2-40B4-BE49-F238E27FC236}">
                <a16:creationId xmlns:a16="http://schemas.microsoft.com/office/drawing/2014/main" id="{22A6F2FD-FFDF-4B93-A881-77E3BB74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A53A"/>
                </a:solidFill>
              </a:defRPr>
            </a:pPr>
            <a:r>
              <a:rPr sz="1350" b="1">
                <a:solidFill>
                  <a:srgbClr val="E0A53A"/>
                </a:solidFill>
              </a:rPr>
              <a:t>MODULE 6 OF 10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92EA9818-1AA5-4094-B7DD-5EF576B1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619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Know the sewing machine</a:t>
            </a:r>
          </a:p>
        </p:txBody>
      </p:sp>
      <p:sp>
        <p:nvSpPr>
          <p:cNvPr id="5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E3DD8D6E-32C4-4D09-A5EA-421D1522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42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6F2EF"/>
                </a:solidFill>
              </a:defRPr>
            </a:pPr>
            <a:r>
              <a:rPr sz="1875" b="0">
                <a:solidFill>
                  <a:srgbClr val="E6F2EF"/>
                </a:solidFill>
              </a:rPr>
              <a:t>Identify major parts and explain what each part controls.</a:t>
            </a:r>
          </a:p>
        </p:txBody>
      </p:sp>
      <p:sp>
        <p:nvSpPr>
          <p:cNvPr id="6" name="deck-footer">
            <a:extLst xmlns:a="http://schemas.openxmlformats.org/drawingml/2006/main">
              <a:ext uri="{FF2B5EF4-FFF2-40B4-BE49-F238E27FC236}">
                <a16:creationId xmlns:a16="http://schemas.microsoft.com/office/drawing/2014/main" id="{1A01D08D-C6B0-434B-9DA9-8C8DC13B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9D6"/>
                </a:solidFill>
              </a:defRPr>
            </a:pPr>
            <a:r>
              <a:rPr sz="1200" b="0">
                <a:solidFill>
                  <a:srgbClr val="BFD9D6"/>
                </a:solidFill>
              </a:rPr>
              <a:t>Year 7/8 Technology Mandatory · Student learning presentation</a:t>
            </a:r>
          </a:p>
        </p:txBody>
      </p:sp>
    </p:spTree>
    <p:extLst>
      <p:ext uri="{BB962C8B-B14F-4D97-AF65-F5344CB8AC3E}">
        <p14:creationId xmlns:p14="http://schemas.microsoft.com/office/powerpoint/2010/main" val="1664563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9F5E78A4-0858-4C30-8E1E-C1E2CDFC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1FF09A95-6D8F-44AE-B4C3-31474715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1A2A27FD-BDD3-4585-9D4A-09BE502A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6  ·  LEARNING PATH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0FCDE0-D807-48E5-9FF4-1605DC42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Three ideas build one design decision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D718B71-9D1A-4674-95E8-275ECB80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Read, notice, explain and apply each section in order.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BFBF9CA1-8C89-487A-9BB8-881B5505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E417FED8-094F-418A-AE4E-30C78C7A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03C56837-B57E-416F-8995-AF4A17AC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6.1 Thread path and stitch-forming parts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2806FA82-D3DD-4EB8-B3E1-8962F3C5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15951167-D95C-4ECE-B9DD-857F22F7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F2B796D3-0F16-4392-948A-72553F44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6.2 Holding and moving fabric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9D92165-5D43-4182-93C0-5BC1B749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9F59E99B-EE14-4F46-8D7F-18C5D45A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9D953D42-FDD3-4A34-932E-E5643697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6.3 Controls and their purpose</a:t>
            </a:r>
          </a:p>
        </p:txBody>
      </p:sp>
    </p:spTree>
    <p:extLst>
      <p:ext uri="{BB962C8B-B14F-4D97-AF65-F5344CB8AC3E}">
        <p14:creationId xmlns:p14="http://schemas.microsoft.com/office/powerpoint/2010/main" val="15148064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59530641-BB76-491E-90F7-A7D43DE0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2766DDD7-0544-4722-8F2C-69C3EB69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CB25DC84-19ED-4019-86EA-71096539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6  ·  SECTION 6.1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CCFE4B-521D-49CB-87A6-CEF31DB5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6.1 Thread path and stitch-forming parts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F080923-B79A-4A31-8927-98B97962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6F5FDE97-EC10-4545-80A2-F809F0B6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79EF5EC4-0A36-4FFA-9A40-AE63E311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647C4431-9869-4207-A347-BC70C8ED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The upper thread travels from the spool through guides and tension controls to the needle.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4AAC6676-BF00-4CD0-8CB7-FF9F66AA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A913AD51-4F8B-4FFD-93AA-3B4C86BA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28AECE67-C2D9-4D22-977A-76DDBDFB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A sewing machine creates a lockstitch by coordinating motion and thread.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79AA9FA3-9C27-4BFC-A100-4771D1D5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BBA9005E-645D-4607-A17B-8D53ED5D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C3FF9A0B-12BB-483D-94D1-76136339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Skipping one stage can change the stitch even when the thread reaches the needle.</a:t>
            </a:r>
          </a:p>
        </p:txBody>
      </p:sp>
    </p:spTree>
    <p:extLst>
      <p:ext uri="{BB962C8B-B14F-4D97-AF65-F5344CB8AC3E}">
        <p14:creationId xmlns:p14="http://schemas.microsoft.com/office/powerpoint/2010/main" val="1371001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FCDF4E8C-6CC7-49DA-B893-9520B340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05F76C55-EEB6-4BA3-B897-F6456EA9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04BF0DE0-8505-480F-B7C1-6F08FA4E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6  ·  APPLY THE THEORY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1E3EAA-228C-4177-A7EC-DA2C9E03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Make the theory visible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1A2BAE7-DFE3-42E8-919F-8A975CEE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Describe the upper and lower thread systems.</a:t>
            </a:r>
          </a:p>
        </p:txBody>
      </p:sp>
      <p:sp>
        <p:nvSpPr>
          <p:cNvPr id="6" name="prompt-accent">
            <a:extLst xmlns:a="http://schemas.openxmlformats.org/drawingml/2006/main">
              <a:ext uri="{FF2B5EF4-FFF2-40B4-BE49-F238E27FC236}">
                <a16:creationId xmlns:a16="http://schemas.microsoft.com/office/drawing/2014/main" id="{F636E696-9694-4D40-909B-E9DE50B5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14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lain-language">
            <a:extLst xmlns:a="http://schemas.openxmlformats.org/drawingml/2006/main">
              <a:ext uri="{FF2B5EF4-FFF2-40B4-BE49-F238E27FC236}">
                <a16:creationId xmlns:a16="http://schemas.microsoft.com/office/drawing/2014/main" id="{1CB11102-2CDC-43D4-BEC1-4A9EA7C8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67"/>
                </a:solidFill>
              </a:defRPr>
            </a:pPr>
            <a:r>
              <a:rPr sz="1275" b="1">
                <a:solidFill>
                  <a:srgbClr val="176B67"/>
                </a:solidFill>
              </a:rPr>
              <a:t>WHAT THIS IS ASKING</a:t>
            </a:r>
          </a:p>
        </p:txBody>
      </p:sp>
      <p:sp>
        <p:nvSpPr>
          <p:cNvPr id="8" name="clarify">
            <a:extLst xmlns:a="http://schemas.openxmlformats.org/drawingml/2006/main">
              <a:ext uri="{FF2B5EF4-FFF2-40B4-BE49-F238E27FC236}">
                <a16:creationId xmlns:a16="http://schemas.microsoft.com/office/drawing/2014/main" id="{EA70E6E3-D191-4004-85A4-C92ED83B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462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43A"/>
                </a:solidFill>
              </a:defRPr>
            </a:pPr>
            <a:r>
              <a:rPr sz="1800" b="0">
                <a:solidFill>
                  <a:srgbClr val="16343A"/>
                </a:solidFill>
              </a:rPr>
              <a:t>Explain spool-to-needle and bobbin roles without inventing machine-specific steps.</a:t>
            </a:r>
          </a:p>
        </p:txBody>
      </p:sp>
      <p:sp>
        <p:nvSpPr>
          <p:cNvPr id="9" name="starter-label">
            <a:extLst xmlns:a="http://schemas.openxmlformats.org/drawingml/2006/main">
              <a:ext uri="{FF2B5EF4-FFF2-40B4-BE49-F238E27FC236}">
                <a16:creationId xmlns:a16="http://schemas.microsoft.com/office/drawing/2014/main" id="{89F8806D-B739-452C-9854-F953723C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5543"/>
                </a:solidFill>
              </a:defRPr>
            </a:pPr>
            <a:r>
              <a:rPr sz="1275" b="1">
                <a:solidFill>
                  <a:srgbClr val="B95543"/>
                </a:solidFill>
              </a:rPr>
              <a:t>STARTER</a:t>
            </a:r>
          </a:p>
        </p:txBody>
      </p:sp>
      <p:sp>
        <p:nvSpPr>
          <p:cNvPr id="10" name="starter">
            <a:extLst xmlns:a="http://schemas.openxmlformats.org/drawingml/2006/main">
              <a:ext uri="{FF2B5EF4-FFF2-40B4-BE49-F238E27FC236}">
                <a16:creationId xmlns:a16="http://schemas.microsoft.com/office/drawing/2014/main" id="{F620D74B-29FF-440A-8984-E8278628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The upper thread travels… The bobbin…</a:t>
            </a:r>
          </a:p>
        </p:txBody>
      </p:sp>
      <p:sp>
        <p:nvSpPr>
          <p:cNvPr id="11" name="action">
            <a:extLst xmlns:a="http://schemas.openxmlformats.org/drawingml/2006/main">
              <a:ext uri="{FF2B5EF4-FFF2-40B4-BE49-F238E27FC236}">
                <a16:creationId xmlns:a16="http://schemas.microsoft.com/office/drawing/2014/main" id="{359A1DC7-FAE0-4727-AD03-EF7DEC66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6A"/>
                </a:solidFill>
              </a:defRPr>
            </a:pPr>
            <a:r>
              <a:rPr sz="1350" b="1">
                <a:solidFill>
                  <a:srgbClr val="52676A"/>
                </a:solidFill>
              </a:rPr>
              <a:t>Return to the matching website section, complete the ten checks, then save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8644650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6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590BC274-8A0F-4C44-95C2-72B905D8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F0C3C273-6DDB-47C7-94AF-A71539F3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1F36B3C0-E5AA-432D-9256-BAD75877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6  ·  SECTION 6.2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D76095-2BC9-41F3-8CE4-ECB2F72D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6.2 Holding and moving fabric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E44A369-8C3D-45D4-95D0-84B6B31B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2BEC1DAC-397A-4E53-A308-9FE83D9D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D3EF37F8-4F52-45F8-83B9-3F52890B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9C2A1200-B368-4EBC-9352-A296B641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The presser foot holds fabric against the feed dogs.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EAAB95B4-B7E4-4F38-8468-662CA03A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7B1197CD-82F9-455C-BDA0-3304FA94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A04E1813-B636-4050-8258-6BB941B3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Keep fingers clear of the moving needle and presser-foot area.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5C06F369-2892-40AC-87B7-6F08390C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FDE25C72-9944-4B2B-A724-1A1720DD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9DA946B5-F943-4D8A-B5D6-45A26719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Pulling the fabric fights this system and can distort the seam or place sideways force on the needle.</a:t>
            </a:r>
          </a:p>
        </p:txBody>
      </p:sp>
    </p:spTree>
    <p:extLst>
      <p:ext uri="{BB962C8B-B14F-4D97-AF65-F5344CB8AC3E}">
        <p14:creationId xmlns:p14="http://schemas.microsoft.com/office/powerpoint/2010/main" val="7496649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70518B5-47C7-4188-BF6B-5FD67FD8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835B630A-C6EE-4D48-8A1B-E84F1799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D049C56A-0493-4CC1-B5C1-86C0570C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6  ·  APPLY THE THEORY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1F233F-D7E4-4A8C-A863-30F88692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Use evidence, not guesses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482FB0B-0D88-496C-A534-BDD32C22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Explain how fabric is held and moved during sewing.</a:t>
            </a:r>
          </a:p>
        </p:txBody>
      </p:sp>
      <p:sp>
        <p:nvSpPr>
          <p:cNvPr id="6" name="prompt-accent">
            <a:extLst xmlns:a="http://schemas.openxmlformats.org/drawingml/2006/main">
              <a:ext uri="{FF2B5EF4-FFF2-40B4-BE49-F238E27FC236}">
                <a16:creationId xmlns:a16="http://schemas.microsoft.com/office/drawing/2014/main" id="{5F862DC3-24C0-4E8B-8497-2C91B5CC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14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5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lain-language">
            <a:extLst xmlns:a="http://schemas.openxmlformats.org/drawingml/2006/main">
              <a:ext uri="{FF2B5EF4-FFF2-40B4-BE49-F238E27FC236}">
                <a16:creationId xmlns:a16="http://schemas.microsoft.com/office/drawing/2014/main" id="{0C4D0005-303B-4C89-AE24-91DA6027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67"/>
                </a:solidFill>
              </a:defRPr>
            </a:pPr>
            <a:r>
              <a:rPr sz="1275" b="1">
                <a:solidFill>
                  <a:srgbClr val="176B67"/>
                </a:solidFill>
              </a:rPr>
              <a:t>WHAT THIS IS ASKING</a:t>
            </a:r>
          </a:p>
        </p:txBody>
      </p:sp>
      <p:sp>
        <p:nvSpPr>
          <p:cNvPr id="8" name="clarify">
            <a:extLst xmlns:a="http://schemas.openxmlformats.org/drawingml/2006/main">
              <a:ext uri="{FF2B5EF4-FFF2-40B4-BE49-F238E27FC236}">
                <a16:creationId xmlns:a16="http://schemas.microsoft.com/office/drawing/2014/main" id="{CF569717-2496-40DA-A827-516A0287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462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43A"/>
                </a:solidFill>
              </a:defRPr>
            </a:pPr>
            <a:r>
              <a:rPr sz="1800" b="0">
                <a:solidFill>
                  <a:srgbClr val="16343A"/>
                </a:solidFill>
              </a:rPr>
              <a:t>Name the presser foot, feed dogs and needle plate and describe the student’s role.</a:t>
            </a:r>
          </a:p>
        </p:txBody>
      </p:sp>
      <p:sp>
        <p:nvSpPr>
          <p:cNvPr id="9" name="starter-label">
            <a:extLst xmlns:a="http://schemas.openxmlformats.org/drawingml/2006/main">
              <a:ext uri="{FF2B5EF4-FFF2-40B4-BE49-F238E27FC236}">
                <a16:creationId xmlns:a16="http://schemas.microsoft.com/office/drawing/2014/main" id="{7BDBCA4C-437F-465D-B3B8-67F324D4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5543"/>
                </a:solidFill>
              </a:defRPr>
            </a:pPr>
            <a:r>
              <a:rPr sz="1275" b="1">
                <a:solidFill>
                  <a:srgbClr val="B95543"/>
                </a:solidFill>
              </a:rPr>
              <a:t>STARTER</a:t>
            </a:r>
          </a:p>
        </p:txBody>
      </p:sp>
      <p:sp>
        <p:nvSpPr>
          <p:cNvPr id="10" name="starter">
            <a:extLst xmlns:a="http://schemas.openxmlformats.org/drawingml/2006/main">
              <a:ext uri="{FF2B5EF4-FFF2-40B4-BE49-F238E27FC236}">
                <a16:creationId xmlns:a16="http://schemas.microsoft.com/office/drawing/2014/main" id="{5918EC7C-9F4D-4C35-9929-21B5B1E4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The presser foot… The feed dogs… I will guide…</a:t>
            </a:r>
          </a:p>
        </p:txBody>
      </p:sp>
      <p:sp>
        <p:nvSpPr>
          <p:cNvPr id="11" name="action">
            <a:extLst xmlns:a="http://schemas.openxmlformats.org/drawingml/2006/main">
              <a:ext uri="{FF2B5EF4-FFF2-40B4-BE49-F238E27FC236}">
                <a16:creationId xmlns:a16="http://schemas.microsoft.com/office/drawing/2014/main" id="{D41EA56C-9FFF-4F59-B1DB-AF6F86F3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6A"/>
                </a:solidFill>
              </a:defRPr>
            </a:pPr>
            <a:r>
              <a:rPr sz="1350" b="1">
                <a:solidFill>
                  <a:srgbClr val="52676A"/>
                </a:solidFill>
              </a:rPr>
              <a:t>Return to the matching website section, complete the ten checks, then save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6486969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28665A43-82FC-4D50-BC4D-DF75F040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62796C60-E960-4693-9DB7-1D7752A5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3FDB2104-6D0D-4FA2-893C-14D16EE8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6  ·  SECTION 6.3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D0A857-D267-42B9-A0EC-AB57B23A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6.3 Controls and their purpose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D38D951-7B20-4803-9A86-93A16A4E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E8A70030-7837-4295-982E-A270AB49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F08A5FFF-54E0-4ED9-8CB0-418DCCB6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7106F66F-715F-4281-934B-7E9C68B5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Common controls may include a handwheel, presser-foot lifter, reverse control, stitch selector, stitch-length control and speed control.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94CB01F7-9608-4173-96E3-08EF56D1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7702412D-1FCB-4FD2-B9B2-D03D85B6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6699BE42-2BFD-4DCE-8C0F-5D0CBC45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The handwheel positions the needle under the demonstrated method; the reverse control may secure stitching; stitch selectors and length controls change stitch formati…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7821BC3B-F530-4C5A-838A-FB690527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27ACE79B-6CCF-4FFC-BA85-AF11BA42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1B91ED8C-565C-4DFD-8001-DAF0A305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Record model-specific values only after teacher confirmation.</a:t>
            </a:r>
          </a:p>
        </p:txBody>
      </p:sp>
    </p:spTree>
    <p:extLst>
      <p:ext uri="{BB962C8B-B14F-4D97-AF65-F5344CB8AC3E}">
        <p14:creationId xmlns:p14="http://schemas.microsoft.com/office/powerpoint/2010/main" val="3311045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4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BB3C775B-314F-41A9-8A7D-BB81D801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5446463F-E089-4683-B6BC-4FA57E68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A53A"/>
                </a:solidFill>
              </a:defRPr>
            </a:pPr>
            <a:r>
              <a:rPr sz="1350" b="1">
                <a:solidFill>
                  <a:srgbClr val="E0A53A"/>
                </a:solidFill>
              </a:rPr>
              <a:t>MODULE 6 REVIEW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72C0BDF2-624F-4771-B585-A1AD86D6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Show what you understand.</a:t>
            </a:r>
          </a:p>
        </p:txBody>
      </p:sp>
      <p:sp>
        <p:nvSpPr>
          <p:cNvPr id="4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511956F2-290C-4DAC-8FCB-779E53F3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1. Revisit all three theory sections.</a:t>
            </a:r>
          </a:p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2. Complete 30 knowledge checks and three guided responses.</a:t>
            </a:r>
          </a:p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3. Continue the Sewing machine systems lab and keep authentic evidence.</a:t>
            </a:r>
          </a:p>
        </p:txBody>
      </p:sp>
      <p:sp>
        <p:nvSpPr>
          <p:cNvPr id="5" name="closing-boundary">
            <a:extLst xmlns:a="http://schemas.openxmlformats.org/drawingml/2006/main">
              <a:ext uri="{FF2B5EF4-FFF2-40B4-BE49-F238E27FC236}">
                <a16:creationId xmlns:a16="http://schemas.microsoft.com/office/drawing/2014/main" id="{9F0C9E99-0925-494A-BA08-FFC2C86A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D98B"/>
                </a:solidFill>
              </a:defRPr>
            </a:pPr>
            <a:r>
              <a:rPr sz="1500" b="1">
                <a:solidFill>
                  <a:srgbClr val="FFD98B"/>
                </a:solidFill>
              </a:rPr>
              <a:t>Exact practical instructions and formal submission arrangements: Teacher to confirm.</a:t>
            </a:r>
          </a:p>
        </p:txBody>
      </p:sp>
    </p:spTree>
    <p:extLst>
      <p:ext uri="{BB962C8B-B14F-4D97-AF65-F5344CB8AC3E}">
        <p14:creationId xmlns:p14="http://schemas.microsoft.com/office/powerpoint/2010/main" val="1509371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2026-08-11T12:15:43.3180000Z</dcterms:created>
  <dcterms:modified xsi:type="dcterms:W3CDTF">2026-08-11T12:15:43.3180000Z</dcterms:modified>
</coreProperties>
</file>