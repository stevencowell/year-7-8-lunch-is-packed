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cacf91686db42a8" /><Relationship Type="http://schemas.openxmlformats.org/officeDocument/2006/relationships/extended-properties" Target="/docProps/app.xml" Id="Rd2dc69efea294a4c" /><Relationship Type="http://schemas.openxmlformats.org/officeDocument/2006/relationships/officeDocument" Target="/ppt/presentation.xml" Id="R16f42e85509d43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d27db0aab5434c"/>
  </p:sldMasterIdLst>
  <p:notesMasterIdLst>
    <p:notesMasterId xmlns:r="http://schemas.openxmlformats.org/officeDocument/2006/relationships" r:id="R25fc5077d85c4887"/>
  </p:notesMasterIdLst>
  <p:sldIdLst>
    <p:sldId xmlns:r="http://schemas.openxmlformats.org/officeDocument/2006/relationships" id="256" r:id="R9bb07bf7622c4bca"/>
    <p:sldId xmlns:r="http://schemas.openxmlformats.org/officeDocument/2006/relationships" id="257" r:id="Radd09cb93ac1451c"/>
    <p:sldId xmlns:r="http://schemas.openxmlformats.org/officeDocument/2006/relationships" id="258" r:id="Ra24e229cedcc4ed9"/>
    <p:sldId xmlns:r="http://schemas.openxmlformats.org/officeDocument/2006/relationships" id="259" r:id="R037bb5076fdc4a4f"/>
    <p:sldId xmlns:r="http://schemas.openxmlformats.org/officeDocument/2006/relationships" id="260" r:id="R651ea297dd734ed0"/>
    <p:sldId xmlns:r="http://schemas.openxmlformats.org/officeDocument/2006/relationships" id="261" r:id="Ra514e74ef52b4089"/>
    <p:sldId xmlns:r="http://schemas.openxmlformats.org/officeDocument/2006/relationships" id="262" r:id="R04e0a4a283e54dfb"/>
    <p:sldId xmlns:r="http://schemas.openxmlformats.org/officeDocument/2006/relationships" id="263" r:id="R129527791c964e2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971c365715d4695" /><Relationship Type="http://schemas.openxmlformats.org/officeDocument/2006/relationships/slideMaster" Target="/ppt/slideMasters/slideMaster1.xml" Id="R20d27db0aab5434c" /><Relationship Type="http://schemas.openxmlformats.org/officeDocument/2006/relationships/notesMaster" Target="/ppt/notesMasters/notesMaster1.xml" Id="R25fc5077d85c4887" /><Relationship Type="http://schemas.openxmlformats.org/officeDocument/2006/relationships/presProps" Target="/ppt/presProps.xml" Id="R5fe18dc7d0614a94" /><Relationship Type="http://schemas.openxmlformats.org/officeDocument/2006/relationships/tableStyles" Target="/ppt/tableStyles.xml" Id="Rc7df7da3a063456b" /><Relationship Type="http://schemas.openxmlformats.org/officeDocument/2006/relationships/slide" Target="/ppt/slides/slide1.xml" Id="R9bb07bf7622c4bca" /><Relationship Type="http://schemas.openxmlformats.org/officeDocument/2006/relationships/slide" Target="/ppt/slides/slide2.xml" Id="Radd09cb93ac1451c" /><Relationship Type="http://schemas.openxmlformats.org/officeDocument/2006/relationships/slide" Target="/ppt/slides/slide3.xml" Id="Ra24e229cedcc4ed9" /><Relationship Type="http://schemas.openxmlformats.org/officeDocument/2006/relationships/slide" Target="/ppt/slides/slide4.xml" Id="R037bb5076fdc4a4f" /><Relationship Type="http://schemas.openxmlformats.org/officeDocument/2006/relationships/slide" Target="/ppt/slides/slide5.xml" Id="R651ea297dd734ed0" /><Relationship Type="http://schemas.openxmlformats.org/officeDocument/2006/relationships/slide" Target="/ppt/slides/slide6.xml" Id="Ra514e74ef52b4089" /><Relationship Type="http://schemas.openxmlformats.org/officeDocument/2006/relationships/slide" Target="/ppt/slides/slide7.xml" Id="R04e0a4a283e54dfb" /><Relationship Type="http://schemas.openxmlformats.org/officeDocument/2006/relationships/slide" Target="/ppt/slides/slide8.xml" Id="R129527791c964e2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7212baf44c441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94c3040941e4b00" /><Relationship Type="http://schemas.openxmlformats.org/officeDocument/2006/relationships/notesMaster" Target="/ppt/notesMasters/notesMaster1.xml" Id="R1baea56bc2d948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60b9b5bbba943e0" /><Relationship Type="http://schemas.openxmlformats.org/officeDocument/2006/relationships/notesMaster" Target="/ppt/notesMasters/notesMaster1.xml" Id="R92a634a68e8b47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bee19cfa60246fc" /><Relationship Type="http://schemas.openxmlformats.org/officeDocument/2006/relationships/notesMaster" Target="/ppt/notesMasters/notesMaster1.xml" Id="Rac45d78b1bcb42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3148b3106240ec" /><Relationship Type="http://schemas.openxmlformats.org/officeDocument/2006/relationships/notesMaster" Target="/ppt/notesMasters/notesMaster1.xml" Id="R726e77360ddb440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17dc7d64d834f79" /><Relationship Type="http://schemas.openxmlformats.org/officeDocument/2006/relationships/notesMaster" Target="/ppt/notesMasters/notesMaster1.xml" Id="R5cbe67d1e7ac41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340068d1ec84afa" /><Relationship Type="http://schemas.openxmlformats.org/officeDocument/2006/relationships/notesMaster" Target="/ppt/notesMasters/notesMaster1.xml" Id="R8e65ebc4447a47b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a18976e7da84d02" /><Relationship Type="http://schemas.openxmlformats.org/officeDocument/2006/relationships/notesMaster" Target="/ppt/notesMasters/notesMaster1.xml" Id="R4cfdb44402a046e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cc4f7d41a1c4520" /><Relationship Type="http://schemas.openxmlformats.org/officeDocument/2006/relationships/notesMaster" Target="/ppt/notesMasters/notesMaster1.xml" Id="R2280a76e4e254f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connecting this module to the student project and current teacher instructions.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should write their own response. The website provides steps and an appropriate response example without revealing quiz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should write their own response. The website provides steps and an appropriate response example without revealing quiz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website module and project activity for the interactive evidence tasks.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673704f5d24ec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de59e8321d4e64" /><Relationship Type="http://schemas.openxmlformats.org/officeDocument/2006/relationships/slideLayout" Target="/ppt/slideLayouts/slideLayout1.xml" Id="Ree9fb4e45be4472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9fb4e45be4472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6deab378944224" /><Relationship Type="http://schemas.openxmlformats.org/officeDocument/2006/relationships/image" Target="/ppt/media/image.png" Id="Rdb0e93a2061d4496" /><Relationship Type="http://schemas.openxmlformats.org/officeDocument/2006/relationships/notesSlide" Target="/ppt/notesSlides/notesSlide1.xml" Id="R42265bfab8414ba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6ef9dad5f242ed" /><Relationship Type="http://schemas.openxmlformats.org/officeDocument/2006/relationships/notesSlide" Target="/ppt/notesSlides/notesSlide2.xml" Id="R5e529820fe6d4f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2716c8eb994ed3" /><Relationship Type="http://schemas.openxmlformats.org/officeDocument/2006/relationships/notesSlide" Target="/ppt/notesSlides/notesSlide3.xml" Id="R57b8cb50da4546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03984789f04b7a" /><Relationship Type="http://schemas.openxmlformats.org/officeDocument/2006/relationships/notesSlide" Target="/ppt/notesSlides/notesSlide4.xml" Id="R71a43541db5d45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48f4a9ec544d27" /><Relationship Type="http://schemas.openxmlformats.org/officeDocument/2006/relationships/notesSlide" Target="/ppt/notesSlides/notesSlide5.xml" Id="R57557f7e9b11494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be384513b640a6" /><Relationship Type="http://schemas.openxmlformats.org/officeDocument/2006/relationships/notesSlide" Target="/ppt/notesSlides/notesSlide6.xml" Id="R0bc74701d8fc4b5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c373cadcbf4cba" /><Relationship Type="http://schemas.openxmlformats.org/officeDocument/2006/relationships/notesSlide" Target="/ppt/notesSlides/notesSlide7.xml" Id="R7bd44c14598a469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3e144b32f3460e" /><Relationship Type="http://schemas.openxmlformats.org/officeDocument/2006/relationships/notesSlide" Target="/ppt/notesSlides/notesSlide8.xml" Id="Rbfd003f0f42345e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plane">
            <a:extLst xmlns:a="http://schemas.openxmlformats.org/drawingml/2006/main">
              <a:ext uri="{FF2B5EF4-FFF2-40B4-BE49-F238E27FC236}">
                <a16:creationId xmlns:a16="http://schemas.microsoft.com/office/drawing/2014/main" id="{2BD7E583-51A3-48E9-9655-05069A44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239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4C4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0e93a2061d4496"/>
          <a:srcRect xmlns:a="http://schemas.openxmlformats.org/drawingml/2006/main" l="24074" t="0" r="2407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0"/>
            <a:ext cx="5334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1AD0D130-8A99-48BF-9EDD-0DEAA969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495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0A53A"/>
                </a:solidFill>
              </a:defRPr>
            </a:pPr>
            <a:r>
              <a:rPr sz="1350" b="1">
                <a:solidFill>
                  <a:srgbClr val="E0A53A"/>
                </a:solidFill>
              </a:rPr>
              <a:t>MODULE 3 OF 10</a:t>
            </a:r>
          </a:p>
        </p:txBody>
      </p:sp>
      <p:sp>
        <p:nvSpPr>
          <p:cNvPr id="4" name="deck-title">
            <a:extLst xmlns:a="http://schemas.openxmlformats.org/drawingml/2006/main">
              <a:ext uri="{FF2B5EF4-FFF2-40B4-BE49-F238E27FC236}">
                <a16:creationId xmlns:a16="http://schemas.microsoft.com/office/drawing/2014/main" id="{9C8ED956-E085-4092-9B73-B3800CD4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56197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Sustainable lunch choices</a:t>
            </a:r>
          </a:p>
        </p:txBody>
      </p:sp>
      <p:sp>
        <p:nvSpPr>
          <p:cNvPr id="5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97861E00-A7D3-4621-9B28-B0301CD7F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5429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E6F2EF"/>
                </a:solidFill>
              </a:defRPr>
            </a:pPr>
            <a:r>
              <a:rPr sz="1875" b="0">
                <a:solidFill>
                  <a:srgbClr val="E6F2EF"/>
                </a:solidFill>
              </a:rPr>
              <a:t>Connect reusable products, material choices and personal action.</a:t>
            </a:r>
          </a:p>
        </p:txBody>
      </p:sp>
      <p:sp>
        <p:nvSpPr>
          <p:cNvPr id="6" name="deck-footer">
            <a:extLst xmlns:a="http://schemas.openxmlformats.org/drawingml/2006/main">
              <a:ext uri="{FF2B5EF4-FFF2-40B4-BE49-F238E27FC236}">
                <a16:creationId xmlns:a16="http://schemas.microsoft.com/office/drawing/2014/main" id="{2497575E-7EB0-484B-9BEC-F7FF3CD9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61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FD9D6"/>
                </a:solidFill>
              </a:defRPr>
            </a:pPr>
            <a:r>
              <a:rPr sz="1200" b="0">
                <a:solidFill>
                  <a:srgbClr val="BFD9D6"/>
                </a:solidFill>
              </a:rPr>
              <a:t>Year 7/8 Technology Mandatory · Student learning presentation</a:t>
            </a:r>
          </a:p>
        </p:txBody>
      </p:sp>
    </p:spTree>
    <p:extLst>
      <p:ext uri="{BB962C8B-B14F-4D97-AF65-F5344CB8AC3E}">
        <p14:creationId xmlns:p14="http://schemas.microsoft.com/office/powerpoint/2010/main" val="12372469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A04B6F5D-BA58-4182-85E0-5DAC9A92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E33E1DE1-035D-4B46-9CBD-2A90DAD0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0E4F9359-9F22-4C54-A1BB-7DD13010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3  ·  LEARNING PATH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756D376-236A-4543-BFFF-6EF5C2A1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Three ideas build one design decision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39A4397-D404-409F-A51E-E9BFD8E7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Read, notice, explain and apply each section in order.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276FD90A-5199-4F32-A65C-1A2D4528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2BC045FD-90D9-48E6-8FC9-207161A71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6988B69D-E4BB-47CA-88EF-890159320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3.1 The single-use problem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BF00D7B8-08CD-4558-919D-A80802ED2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A70FD207-37A6-4394-BEA2-DC816FE6D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4FF2D696-073A-4550-AD39-503941C01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3.2 Product life cycle thinking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6DC01365-2861-4467-AAA0-142878FB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1EDF8BC3-9ADE-406C-B766-580F9970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8D700867-8869-45A9-966F-50580C7A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3.3 Personal action with evidence</a:t>
            </a:r>
          </a:p>
        </p:txBody>
      </p:sp>
    </p:spTree>
    <p:extLst>
      <p:ext uri="{BB962C8B-B14F-4D97-AF65-F5344CB8AC3E}">
        <p14:creationId xmlns:p14="http://schemas.microsoft.com/office/powerpoint/2010/main" val="7305842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E504D55A-6376-4058-8ADF-FB2AD5DFE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40EAAA8D-9231-447D-98A7-D076AC9C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B57EAC9B-ACE5-45E9-B192-FC97327B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3  ·  SECTION 3.1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21A4871-6198-4223-8973-A1E45B37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3.1 The single-use problem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59A179F-ACBE-423E-82FA-FB89BFC3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F292428C-214A-4EE7-A591-BEE74FC38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B64D4EF3-0395-402C-91E6-7F9B8C252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AE122FBF-D8F3-44CF-9E42-4A3D67B6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Single-use items are designed to be used briefly before disposal.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E21226D5-4517-4857-8262-116DA87D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72D15C91-C2C6-4BCB-A012-6C9F9E51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55AECC27-D064-4428-845A-2C526589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It must be used enough times, cared for and kept in service to replace disposable alternatives.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36C64C3F-D031-49A4-8D35-087D43A2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9A5B073A-B27F-405D-B5D0-BDEFCD25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7897C847-0A05-4BA5-A34B-76FBCBFE1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The strongest action targets a frequent item, suits the user and includes a routine for washing, returning or storing the replacement so that reuse actually occurs.</a:t>
            </a:r>
          </a:p>
        </p:txBody>
      </p:sp>
    </p:spTree>
    <p:extLst>
      <p:ext uri="{BB962C8B-B14F-4D97-AF65-F5344CB8AC3E}">
        <p14:creationId xmlns:p14="http://schemas.microsoft.com/office/powerpoint/2010/main" val="13952556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43F6E310-0832-464D-8DEA-B8D03E20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256DD75C-E679-49F7-B12D-17C0C5E94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D9AFAD73-3998-408E-B64C-4AFF3867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3  ·  APPLY THE THEORY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783DF7B-5C65-4ABE-88E6-DC9C8851D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Make the theory visible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0252659-D902-4820-B4C8-E87B0CB4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Audit one packed lunch and identify three possible reductions.</a:t>
            </a:r>
          </a:p>
        </p:txBody>
      </p:sp>
      <p:sp>
        <p:nvSpPr>
          <p:cNvPr id="6" name="prompt-accent">
            <a:extLst xmlns:a="http://schemas.openxmlformats.org/drawingml/2006/main">
              <a:ext uri="{FF2B5EF4-FFF2-40B4-BE49-F238E27FC236}">
                <a16:creationId xmlns:a16="http://schemas.microsoft.com/office/drawing/2014/main" id="{12838C2C-B362-452E-B158-95752E52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143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lain-language">
            <a:extLst xmlns:a="http://schemas.openxmlformats.org/drawingml/2006/main">
              <a:ext uri="{FF2B5EF4-FFF2-40B4-BE49-F238E27FC236}">
                <a16:creationId xmlns:a16="http://schemas.microsoft.com/office/drawing/2014/main" id="{5A955FAB-A67A-4645-A701-DB46FED79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67"/>
                </a:solidFill>
              </a:defRPr>
            </a:pPr>
            <a:r>
              <a:rPr sz="1275" b="1">
                <a:solidFill>
                  <a:srgbClr val="176B67"/>
                </a:solidFill>
              </a:rPr>
              <a:t>WHAT THIS IS ASKING</a:t>
            </a:r>
          </a:p>
        </p:txBody>
      </p:sp>
      <p:sp>
        <p:nvSpPr>
          <p:cNvPr id="8" name="clarify">
            <a:extLst xmlns:a="http://schemas.openxmlformats.org/drawingml/2006/main">
              <a:ext uri="{FF2B5EF4-FFF2-40B4-BE49-F238E27FC236}">
                <a16:creationId xmlns:a16="http://schemas.microsoft.com/office/drawing/2014/main" id="{74D1022C-51AA-44E8-9604-03E0E212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1462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A"/>
                </a:solidFill>
              </a:defRPr>
            </a:pPr>
            <a:r>
              <a:rPr sz="1800" b="0">
                <a:solidFill>
                  <a:srgbClr val="16343A"/>
                </a:solidFill>
              </a:rPr>
              <a:t>Name real items, frequency and a suitable action without exaggerating the effect.</a:t>
            </a:r>
          </a:p>
        </p:txBody>
      </p:sp>
      <p:sp>
        <p:nvSpPr>
          <p:cNvPr id="9" name="starter-label">
            <a:extLst xmlns:a="http://schemas.openxmlformats.org/drawingml/2006/main">
              <a:ext uri="{FF2B5EF4-FFF2-40B4-BE49-F238E27FC236}">
                <a16:creationId xmlns:a16="http://schemas.microsoft.com/office/drawing/2014/main" id="{55171008-1AA7-4BC3-A530-61B55875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576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5543"/>
                </a:solidFill>
              </a:defRPr>
            </a:pPr>
            <a:r>
              <a:rPr sz="1275" b="1">
                <a:solidFill>
                  <a:srgbClr val="B95543"/>
                </a:solidFill>
              </a:rPr>
              <a:t>STARTER</a:t>
            </a:r>
          </a:p>
        </p:txBody>
      </p:sp>
      <p:sp>
        <p:nvSpPr>
          <p:cNvPr id="10" name="starter">
            <a:extLst xmlns:a="http://schemas.openxmlformats.org/drawingml/2006/main">
              <a:ext uri="{FF2B5EF4-FFF2-40B4-BE49-F238E27FC236}">
                <a16:creationId xmlns:a16="http://schemas.microsoft.com/office/drawing/2014/main" id="{FF765CD5-7459-4B4D-B4C9-F3AE1866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The lunch contains… I could reduce… by…</a:t>
            </a:r>
          </a:p>
        </p:txBody>
      </p:sp>
      <p:sp>
        <p:nvSpPr>
          <p:cNvPr id="11" name="action">
            <a:extLst xmlns:a="http://schemas.openxmlformats.org/drawingml/2006/main">
              <a:ext uri="{FF2B5EF4-FFF2-40B4-BE49-F238E27FC236}">
                <a16:creationId xmlns:a16="http://schemas.microsoft.com/office/drawing/2014/main" id="{72C24D76-E094-409B-8595-1D1C7CC1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6A"/>
                </a:solidFill>
              </a:defRPr>
            </a:pPr>
            <a:r>
              <a:rPr sz="1350" b="1">
                <a:solidFill>
                  <a:srgbClr val="52676A"/>
                </a:solidFill>
              </a:rPr>
              <a:t>Return to the matching website section, complete the ten checks, then save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3715632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6F2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68471194-7223-464F-BE89-B36B33024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022E4FE9-87B8-4851-B9AC-C9446F01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062F1EBE-3C91-42D1-8A72-F748B49B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3  ·  SECTION 3.2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CE33DB0-EA4A-425B-85A5-2EF46711D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3.2 Product life cycle thinking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997F4D0-C21F-4C9D-8531-74A53613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5671C630-CC40-49CC-8118-A095768E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5CBA6E1C-E207-4CD1-8478-5015963BD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0F811909-E022-4410-8EDC-CE85267D6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Life cycle thinking follows a product through raw materials, manufacture, transport, use, care, repair and end of life.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7B480CC1-1DD6-428A-9606-8685B7E3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2ABB8779-D860-4B85-8B74-4BE706896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F38D1FF6-58CD-41B8-BB82-613245E38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Life-cycle decisions are connected.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F4EEBE06-6AB9-421B-9F71-53F039C4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C2CF4F89-A93F-45CE-81DF-29C9F5AF4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D80AE8F0-7DC1-4628-A8AD-E2D93063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 repairable closure may extend use, while a product that is difficult to clean may be abandoned early.</a:t>
            </a:r>
          </a:p>
        </p:txBody>
      </p:sp>
    </p:spTree>
    <p:extLst>
      <p:ext uri="{BB962C8B-B14F-4D97-AF65-F5344CB8AC3E}">
        <p14:creationId xmlns:p14="http://schemas.microsoft.com/office/powerpoint/2010/main" val="11783682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01D37776-D6CE-446D-B073-8D3696707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232981E2-3CF0-4D8B-8724-3637D961B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8DA9DB34-915D-453C-84C2-8143D1FD1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3  ·  APPLY THE THEORY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2DD3989-2258-43FF-B59D-B7FAC697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Use evidence, not guesses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297A03C-0C0E-4B9E-A438-593100651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Create a life-cycle map for a reusable lunch bag.</a:t>
            </a:r>
          </a:p>
        </p:txBody>
      </p:sp>
      <p:sp>
        <p:nvSpPr>
          <p:cNvPr id="6" name="prompt-accent">
            <a:extLst xmlns:a="http://schemas.openxmlformats.org/drawingml/2006/main">
              <a:ext uri="{FF2B5EF4-FFF2-40B4-BE49-F238E27FC236}">
                <a16:creationId xmlns:a16="http://schemas.microsoft.com/office/drawing/2014/main" id="{CDED3E15-F23F-48CE-9AB5-0BA0D6088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143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5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lain-language">
            <a:extLst xmlns:a="http://schemas.openxmlformats.org/drawingml/2006/main">
              <a:ext uri="{FF2B5EF4-FFF2-40B4-BE49-F238E27FC236}">
                <a16:creationId xmlns:a16="http://schemas.microsoft.com/office/drawing/2014/main" id="{FFB2DD3A-0E80-4849-9018-A19A569C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67"/>
                </a:solidFill>
              </a:defRPr>
            </a:pPr>
            <a:r>
              <a:rPr sz="1275" b="1">
                <a:solidFill>
                  <a:srgbClr val="176B67"/>
                </a:solidFill>
              </a:rPr>
              <a:t>WHAT THIS IS ASKING</a:t>
            </a:r>
          </a:p>
        </p:txBody>
      </p:sp>
      <p:sp>
        <p:nvSpPr>
          <p:cNvPr id="8" name="clarify">
            <a:extLst xmlns:a="http://schemas.openxmlformats.org/drawingml/2006/main">
              <a:ext uri="{FF2B5EF4-FFF2-40B4-BE49-F238E27FC236}">
                <a16:creationId xmlns:a16="http://schemas.microsoft.com/office/drawing/2014/main" id="{E08E301C-809D-44D4-BA47-4167072DA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1462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A"/>
                </a:solidFill>
              </a:defRPr>
            </a:pPr>
            <a:r>
              <a:rPr sz="1800" b="0">
                <a:solidFill>
                  <a:srgbClr val="16343A"/>
                </a:solidFill>
              </a:rPr>
              <a:t>Include at least six stages and one design opportunity at three stages.</a:t>
            </a:r>
          </a:p>
        </p:txBody>
      </p:sp>
      <p:sp>
        <p:nvSpPr>
          <p:cNvPr id="9" name="starter-label">
            <a:extLst xmlns:a="http://schemas.openxmlformats.org/drawingml/2006/main">
              <a:ext uri="{FF2B5EF4-FFF2-40B4-BE49-F238E27FC236}">
                <a16:creationId xmlns:a16="http://schemas.microsoft.com/office/drawing/2014/main" id="{FC4D4B63-3594-4A4A-B56D-6DA9067F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576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5543"/>
                </a:solidFill>
              </a:defRPr>
            </a:pPr>
            <a:r>
              <a:rPr sz="1275" b="1">
                <a:solidFill>
                  <a:srgbClr val="B95543"/>
                </a:solidFill>
              </a:rPr>
              <a:t>STARTER</a:t>
            </a:r>
          </a:p>
        </p:txBody>
      </p:sp>
      <p:sp>
        <p:nvSpPr>
          <p:cNvPr id="10" name="starter">
            <a:extLst xmlns:a="http://schemas.openxmlformats.org/drawingml/2006/main">
              <a:ext uri="{FF2B5EF4-FFF2-40B4-BE49-F238E27FC236}">
                <a16:creationId xmlns:a16="http://schemas.microsoft.com/office/drawing/2014/main" id="{88681D07-C620-4AB3-941B-141B121F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At the… stage, the product… A better choice could…</a:t>
            </a:r>
          </a:p>
        </p:txBody>
      </p:sp>
      <p:sp>
        <p:nvSpPr>
          <p:cNvPr id="11" name="action">
            <a:extLst xmlns:a="http://schemas.openxmlformats.org/drawingml/2006/main">
              <a:ext uri="{FF2B5EF4-FFF2-40B4-BE49-F238E27FC236}">
                <a16:creationId xmlns:a16="http://schemas.microsoft.com/office/drawing/2014/main" id="{2A4BA348-9E27-4A78-981F-95630C642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6A"/>
                </a:solidFill>
              </a:defRPr>
            </a:pPr>
            <a:r>
              <a:rPr sz="1350" b="1">
                <a:solidFill>
                  <a:srgbClr val="52676A"/>
                </a:solidFill>
              </a:rPr>
              <a:t>Return to the matching website section, complete the ten checks, then save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18065178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92F549FF-1C3D-4127-8D17-330A99E2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6DF8C63C-649C-4CD3-8C6E-E876C6C36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FFDA18EE-947A-45E3-94A0-C22480F4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3  ·  SECTION 3.3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737C864-D57E-4255-BDF3-2BCD896C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3.3 Personal action with evidence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9D103E8-7BC7-4EE3-8FA0-450A9AC7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9CA5DA13-FA50-4594-B2B0-D6A95BAE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D665B633-AB0A-45E9-A2F5-5F05CEC0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F20575F5-F7F3-43C3-863D-C0986D9A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Personal action is strongest when it is specific and measurable.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4EB69D9F-E37A-4487-B7C7-4A57F5F4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55F3038C-4A09-4A33-9E93-21DD7A68B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02F74495-ED67-4DA0-81C1-9230CCE8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State the action, the likely effect and the evidence you would collect.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4538C613-97C3-4BFE-900B-B9EAC0752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4DAF130B-55C8-410B-9BF5-83F76E035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70CD75E8-B9E6-41C2-AA47-456E6D98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For example, a student might count disposable carrier bags for one week, use the reusable bag for four weeks and compare the two records.</a:t>
            </a:r>
          </a:p>
        </p:txBody>
      </p:sp>
    </p:spTree>
    <p:extLst>
      <p:ext uri="{BB962C8B-B14F-4D97-AF65-F5344CB8AC3E}">
        <p14:creationId xmlns:p14="http://schemas.microsoft.com/office/powerpoint/2010/main" val="8100444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4C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losing-rule">
            <a:extLst xmlns:a="http://schemas.openxmlformats.org/drawingml/2006/main">
              <a:ext uri="{FF2B5EF4-FFF2-40B4-BE49-F238E27FC236}">
                <a16:creationId xmlns:a16="http://schemas.microsoft.com/office/drawing/2014/main" id="{D2381E76-0B9E-4EEA-AE04-9DFD475F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losing-kicker">
            <a:extLst xmlns:a="http://schemas.openxmlformats.org/drawingml/2006/main">
              <a:ext uri="{FF2B5EF4-FFF2-40B4-BE49-F238E27FC236}">
                <a16:creationId xmlns:a16="http://schemas.microsoft.com/office/drawing/2014/main" id="{C890975D-639B-4AA0-B4C4-D1349DDAD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0A53A"/>
                </a:solidFill>
              </a:defRPr>
            </a:pPr>
            <a:r>
              <a:rPr sz="1350" b="1">
                <a:solidFill>
                  <a:srgbClr val="E0A53A"/>
                </a:solidFill>
              </a:rPr>
              <a:t>MODULE 3 REVIEW</a:t>
            </a:r>
          </a:p>
        </p:txBody>
      </p:sp>
      <p:sp>
        <p:nvSpPr>
          <p:cNvPr id="3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111EAD3A-C93B-4965-820E-0BE02851D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620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Show what you understand.</a:t>
            </a:r>
          </a:p>
        </p:txBody>
      </p:sp>
      <p:sp>
        <p:nvSpPr>
          <p:cNvPr id="4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BB7DF94C-CB6F-40D2-BD92-ED149C2B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857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1. Revisit all three theory sections.</a:t>
            </a:r>
          </a:p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2. Complete 30 knowledge checks and three guided responses.</a:t>
            </a:r>
          </a:p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3. Continue the Lunch-waste action investigation and keep authentic evidence.</a:t>
            </a:r>
          </a:p>
        </p:txBody>
      </p:sp>
      <p:sp>
        <p:nvSpPr>
          <p:cNvPr id="5" name="closing-boundary">
            <a:extLst xmlns:a="http://schemas.openxmlformats.org/drawingml/2006/main">
              <a:ext uri="{FF2B5EF4-FFF2-40B4-BE49-F238E27FC236}">
                <a16:creationId xmlns:a16="http://schemas.microsoft.com/office/drawing/2014/main" id="{EEAECB55-EAD0-4170-A8F0-14D59DF37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D98B"/>
                </a:solidFill>
              </a:defRPr>
            </a:pPr>
            <a:r>
              <a:rPr sz="1500" b="1">
                <a:solidFill>
                  <a:srgbClr val="FFD98B"/>
                </a:solidFill>
              </a:rPr>
              <a:t>Exact practical instructions and formal submission arrangements: Teacher to confirm.</a:t>
            </a:r>
          </a:p>
        </p:txBody>
      </p:sp>
    </p:spTree>
    <p:extLst>
      <p:ext uri="{BB962C8B-B14F-4D97-AF65-F5344CB8AC3E}">
        <p14:creationId xmlns:p14="http://schemas.microsoft.com/office/powerpoint/2010/main" val="5182613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2026-08-11T12:15:40.6370000Z</dcterms:created>
  <dcterms:modified xsi:type="dcterms:W3CDTF">2026-08-11T12:15:40.6370000Z</dcterms:modified>
</coreProperties>
</file>