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37cfa996b94dea" /><Relationship Type="http://schemas.openxmlformats.org/officeDocument/2006/relationships/extended-properties" Target="/docProps/app.xml" Id="R2c85c359affc478e" /><Relationship Type="http://schemas.openxmlformats.org/officeDocument/2006/relationships/officeDocument" Target="/ppt/presentation.xml" Id="R757f9d10ac0641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d7110798714176"/>
  </p:sldMasterIdLst>
  <p:notesMasterIdLst>
    <p:notesMasterId xmlns:r="http://schemas.openxmlformats.org/officeDocument/2006/relationships" r:id="Rb6affdf17cf6408a"/>
  </p:notesMasterIdLst>
  <p:sldIdLst>
    <p:sldId xmlns:r="http://schemas.openxmlformats.org/officeDocument/2006/relationships" id="256" r:id="R0d8e8582f0374e05"/>
    <p:sldId xmlns:r="http://schemas.openxmlformats.org/officeDocument/2006/relationships" id="257" r:id="Rc8922cc3c1ab4200"/>
    <p:sldId xmlns:r="http://schemas.openxmlformats.org/officeDocument/2006/relationships" id="258" r:id="Rb3c0e3c696e34e43"/>
    <p:sldId xmlns:r="http://schemas.openxmlformats.org/officeDocument/2006/relationships" id="259" r:id="R49efeb6737184983"/>
    <p:sldId xmlns:r="http://schemas.openxmlformats.org/officeDocument/2006/relationships" id="260" r:id="Rf296a768febf4fa8"/>
    <p:sldId xmlns:r="http://schemas.openxmlformats.org/officeDocument/2006/relationships" id="261" r:id="R16ccc6c5dd3c4266"/>
    <p:sldId xmlns:r="http://schemas.openxmlformats.org/officeDocument/2006/relationships" id="262" r:id="R8f45518ffcf74270"/>
    <p:sldId xmlns:r="http://schemas.openxmlformats.org/officeDocument/2006/relationships" id="263" r:id="R4a4d19d74ecf47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af0129bbc4444e" /><Relationship Type="http://schemas.openxmlformats.org/officeDocument/2006/relationships/slideMaster" Target="/ppt/slideMasters/slideMaster1.xml" Id="Reed7110798714176" /><Relationship Type="http://schemas.openxmlformats.org/officeDocument/2006/relationships/notesMaster" Target="/ppt/notesMasters/notesMaster1.xml" Id="Rb6affdf17cf6408a" /><Relationship Type="http://schemas.openxmlformats.org/officeDocument/2006/relationships/presProps" Target="/ppt/presProps.xml" Id="R1c45fd8d5059484a" /><Relationship Type="http://schemas.openxmlformats.org/officeDocument/2006/relationships/tableStyles" Target="/ppt/tableStyles.xml" Id="R6821892681254ce7" /><Relationship Type="http://schemas.openxmlformats.org/officeDocument/2006/relationships/slide" Target="/ppt/slides/slide1.xml" Id="R0d8e8582f0374e05" /><Relationship Type="http://schemas.openxmlformats.org/officeDocument/2006/relationships/slide" Target="/ppt/slides/slide2.xml" Id="Rc8922cc3c1ab4200" /><Relationship Type="http://schemas.openxmlformats.org/officeDocument/2006/relationships/slide" Target="/ppt/slides/slide3.xml" Id="Rb3c0e3c696e34e43" /><Relationship Type="http://schemas.openxmlformats.org/officeDocument/2006/relationships/slide" Target="/ppt/slides/slide4.xml" Id="R49efeb6737184983" /><Relationship Type="http://schemas.openxmlformats.org/officeDocument/2006/relationships/slide" Target="/ppt/slides/slide5.xml" Id="Rf296a768febf4fa8" /><Relationship Type="http://schemas.openxmlformats.org/officeDocument/2006/relationships/slide" Target="/ppt/slides/slide6.xml" Id="R16ccc6c5dd3c4266" /><Relationship Type="http://schemas.openxmlformats.org/officeDocument/2006/relationships/slide" Target="/ppt/slides/slide7.xml" Id="R8f45518ffcf74270" /><Relationship Type="http://schemas.openxmlformats.org/officeDocument/2006/relationships/slide" Target="/ppt/slides/slide8.xml" Id="R4a4d19d74ecf47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21f0bb105b4b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34bb4dbf1d43e1" /><Relationship Type="http://schemas.openxmlformats.org/officeDocument/2006/relationships/notesMaster" Target="/ppt/notesMasters/notesMaster1.xml" Id="R82e12100074b4a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6e34d2c17c4f61" /><Relationship Type="http://schemas.openxmlformats.org/officeDocument/2006/relationships/notesMaster" Target="/ppt/notesMasters/notesMaster1.xml" Id="R344a2989fa3542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d8792eb8c5426f" /><Relationship Type="http://schemas.openxmlformats.org/officeDocument/2006/relationships/notesMaster" Target="/ppt/notesMasters/notesMaster1.xml" Id="R6dc52c3b62624f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b90f89cd28475a" /><Relationship Type="http://schemas.openxmlformats.org/officeDocument/2006/relationships/notesMaster" Target="/ppt/notesMasters/notesMaster1.xml" Id="Rb88fd1c56fe447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e3690293c54762" /><Relationship Type="http://schemas.openxmlformats.org/officeDocument/2006/relationships/notesMaster" Target="/ppt/notesMasters/notesMaster1.xml" Id="R57054a4bb7604e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e36f4de4214b9b" /><Relationship Type="http://schemas.openxmlformats.org/officeDocument/2006/relationships/notesMaster" Target="/ppt/notesMasters/notesMaster1.xml" Id="Rae6b7b2fd33e4f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c54b3991754726" /><Relationship Type="http://schemas.openxmlformats.org/officeDocument/2006/relationships/notesMaster" Target="/ppt/notesMasters/notesMaster1.xml" Id="Rc5974c9b332643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337923138947db" /><Relationship Type="http://schemas.openxmlformats.org/officeDocument/2006/relationships/notesMaster" Target="/ppt/notesMasters/notesMaster1.xml" Id="R5e7d584eafaf44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this module to the student project and current teacher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website module and project activity for the interactive evidence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c8ea501354d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a54f1f75fe40a8" /><Relationship Type="http://schemas.openxmlformats.org/officeDocument/2006/relationships/slideLayout" Target="/ppt/slideLayouts/slideLayout1.xml" Id="Rf32391ed40794e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2391ed40794e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4466d240a439b" /><Relationship Type="http://schemas.openxmlformats.org/officeDocument/2006/relationships/image" Target="/ppt/media/image.png" Id="R055f52e87a5a46ac" /><Relationship Type="http://schemas.openxmlformats.org/officeDocument/2006/relationships/notesSlide" Target="/ppt/notesSlides/notesSlide1.xml" Id="R15c196bba37347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c572dbb4443bf" /><Relationship Type="http://schemas.openxmlformats.org/officeDocument/2006/relationships/notesSlide" Target="/ppt/notesSlides/notesSlide2.xml" Id="R949b280d33d74b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8eb2ead394fb2" /><Relationship Type="http://schemas.openxmlformats.org/officeDocument/2006/relationships/notesSlide" Target="/ppt/notesSlides/notesSlide3.xml" Id="R224b8c4504294c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72a2638b84526" /><Relationship Type="http://schemas.openxmlformats.org/officeDocument/2006/relationships/notesSlide" Target="/ppt/notesSlides/notesSlide4.xml" Id="Rca0c7a400c6645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809c6b7bc4e5a" /><Relationship Type="http://schemas.openxmlformats.org/officeDocument/2006/relationships/notesSlide" Target="/ppt/notesSlides/notesSlide5.xml" Id="Rbff1fd2011614b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cbef397b74ed3" /><Relationship Type="http://schemas.openxmlformats.org/officeDocument/2006/relationships/notesSlide" Target="/ppt/notesSlides/notesSlide6.xml" Id="Rd675cfe5a82e44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9997a2cb64c3b" /><Relationship Type="http://schemas.openxmlformats.org/officeDocument/2006/relationships/notesSlide" Target="/ppt/notesSlides/notesSlide7.xml" Id="R63880e312f0741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31fecebd64f27" /><Relationship Type="http://schemas.openxmlformats.org/officeDocument/2006/relationships/notesSlide" Target="/ppt/notesSlides/notesSlide8.xml" Id="R4f53616ac8234f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plane">
            <a:extLst xmlns:a="http://schemas.openxmlformats.org/drawingml/2006/main">
              <a:ext uri="{FF2B5EF4-FFF2-40B4-BE49-F238E27FC236}">
                <a16:creationId xmlns:a16="http://schemas.microsoft.com/office/drawing/2014/main" id="{5B7E183E-3558-4CCF-801F-80231BC4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C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f52e87a5a46ac"/>
          <a:srcRect xmlns:a="http://schemas.openxmlformats.org/drawingml/2006/main" l="30134" t="0" r="30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98FBE809-D765-4CF1-8DD2-323729AE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3 OF 10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AD9B7B49-8616-438C-A2BF-2E47253E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619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Sustainable lunch choices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D22B6C8A-6DFF-4D50-8755-D4DAE9A7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F2EF"/>
                </a:solidFill>
              </a:defRPr>
            </a:pPr>
            <a:r>
              <a:rPr sz="1875" b="0">
                <a:solidFill>
                  <a:srgbClr val="E6F2EF"/>
                </a:solidFill>
              </a:rPr>
              <a:t>Connect reusable products, material choices and personal action.</a:t>
            </a:r>
          </a:p>
        </p:txBody>
      </p:sp>
      <p:sp>
        <p:nvSpPr>
          <p:cNvPr id="6" name="deck-footer">
            <a:extLst xmlns:a="http://schemas.openxmlformats.org/drawingml/2006/main">
              <a:ext uri="{FF2B5EF4-FFF2-40B4-BE49-F238E27FC236}">
                <a16:creationId xmlns:a16="http://schemas.microsoft.com/office/drawing/2014/main" id="{68F48E42-C911-464C-95EF-89D7BE47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9D6"/>
                </a:solidFill>
              </a:defRPr>
            </a:pPr>
            <a:r>
              <a:rPr sz="1200" b="0">
                <a:solidFill>
                  <a:srgbClr val="BFD9D6"/>
                </a:solidFill>
              </a:rPr>
              <a:t>Year 7/8 Technology Mandatory · Student learning presentation</a:t>
            </a:r>
          </a:p>
        </p:txBody>
      </p:sp>
    </p:spTree>
    <p:extLst>
      <p:ext uri="{BB962C8B-B14F-4D97-AF65-F5344CB8AC3E}">
        <p14:creationId xmlns:p14="http://schemas.microsoft.com/office/powerpoint/2010/main" val="2145307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C3A7E9C7-2FFB-4BAA-9D5D-F6920185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4C6E60EB-5CD3-45E9-A863-BCBA1877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79AAF8A1-2022-4218-8153-99E108D6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3  ·  LEARNING PATH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D7813-472C-416D-83E9-2335D017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Three ideas build one design decision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3BB460-D9CA-42E9-8BCC-A6E57143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Read, notice, explain and apply each section in order.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C57B9439-A575-4034-B7FE-57719F78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8C13BC2C-48FF-4F80-9DFA-5D8A6D2D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5E82CF21-EE2A-4069-84FC-A124F606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3.1 The single-use problem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01CEB260-D1F6-4D7E-8441-961DD466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360BE998-367E-47C4-84B7-71527616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9DD8925D-2018-434E-AAD2-F930A6C8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3.2 Product life cycle thinking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09777DE-8CE8-4BA8-BD5B-AFA59101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CBB014D1-0CB4-4528-B053-7E3D7ACB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FD59FA86-0C59-4EA9-8770-26D9168B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3.3 Personal action with evidence</a:t>
            </a:r>
          </a:p>
        </p:txBody>
      </p:sp>
    </p:spTree>
    <p:extLst>
      <p:ext uri="{BB962C8B-B14F-4D97-AF65-F5344CB8AC3E}">
        <p14:creationId xmlns:p14="http://schemas.microsoft.com/office/powerpoint/2010/main" val="1673383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2CEFFC5F-508A-45E8-AEFD-14D1E158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7A722561-6652-4172-BF4F-31D19ED4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D82770CB-6729-4937-BFEF-0B120F5D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3  ·  SECTION 3.1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FDA173-E2BF-47DE-BF7D-6BEDE715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3.1 The single-use problem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556B304-7C47-45CF-88F2-4EF5C667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541DC56E-BA55-4E4B-9154-978631C9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FACE23BB-D6E4-4EC8-A867-5850DC43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F2CF2797-B765-471B-9F25-CF09A2A2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Single-use items are designed to be used briefly before disposal.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42C89194-4C73-446F-861F-CCEB2D91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A0092E6E-96CB-4428-B8AD-F6542B5D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847BDD36-8C90-45D9-872E-FD4A4AE6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Lunches can include plastic bags, wrap, cutlery, drink containers and packets.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276BF1F4-8D8D-441B-89AD-6BF7773E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F5857B6C-7396-4B84-A728-0E83F2F3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B983BEBA-DE37-40B0-BC10-A8FE7E3F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Their impacts depend on material, production, transport, use, collection and what happens after disposal.</a:t>
            </a:r>
          </a:p>
        </p:txBody>
      </p:sp>
    </p:spTree>
    <p:extLst>
      <p:ext uri="{BB962C8B-B14F-4D97-AF65-F5344CB8AC3E}">
        <p14:creationId xmlns:p14="http://schemas.microsoft.com/office/powerpoint/2010/main" val="21451547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C8E54D02-F61A-412A-9B27-52CF8981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352A2BEB-11DF-4FE4-9AFF-12C8091F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207E8CF3-561C-4947-AD7E-F4E4D0F9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3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4837C5-9CF9-4C5C-8756-94483AD6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Make the theory visible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6EAB4B1-C4FF-425A-988B-9A211DBE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Audit one packed lunch and identify three possible reductions.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089DCD37-67BE-4190-A103-19D01E05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34B3396B-E8AE-44AD-ACD2-606750E6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A51C86CD-43F7-42C1-A356-353851F1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Name real items, frequency and a suitable action without exaggerating the effect.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69FBB0D7-0F5F-4F25-8224-1AC8B27E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D71ACCB3-75C4-4CA2-864A-32EBBA2F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 lunch contains… I could reduce… by…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49E489CC-EB7F-4C01-AE88-A68F3182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15873703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6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26AA7B0F-E45C-4503-830C-182EC20B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6992D9FF-E699-4AAE-8840-F8EC066E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CB13D9D7-045E-4F0C-B322-803EBADF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3  ·  SECTION 3.2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AB94E3-3B36-4F03-A15C-28E96C79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3.2 Product life cycle thinking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60230B-7FFB-4421-9F3A-4F67CC2F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3258E390-2851-4442-882B-E45A99CF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706DA6D6-DFE6-4A72-A189-78DBAB25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36C56C5A-5C5B-4A0B-8A80-A06107A0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Life cycle thinking follows a product through raw materials, manufacture, transport, use, care, repair and end of life.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9A355559-6F01-42F3-9B14-64A2DCED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B6E9F4CC-F252-471D-A0C2-574690B9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D8F6E805-0138-427A-828D-09FF8A52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Designers look for impacts and opportunities at every stage.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633F8F37-9CE5-4974-898E-83751B1E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1913E2FD-B587-4569-8344-65F449BC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363E114C-7730-4E10-9B64-072DC1AE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For a lunch bag, durability, washable construction, repairability, efficient material use and long-term user appeal can help extend useful life.</a:t>
            </a:r>
          </a:p>
        </p:txBody>
      </p:sp>
    </p:spTree>
    <p:extLst>
      <p:ext uri="{BB962C8B-B14F-4D97-AF65-F5344CB8AC3E}">
        <p14:creationId xmlns:p14="http://schemas.microsoft.com/office/powerpoint/2010/main" val="156965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4D687DFE-F8C7-409A-AEFD-E377720C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36B77317-F7AB-4ADF-A553-C892F4DF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F6A54D2A-45E0-4372-BC22-5AD42D62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3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34657D-0AF0-4AC9-A194-F089C180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Use evidence, not guesses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D6E428-023F-407F-A824-7F7E3BC0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Create a life-cycle map for a reusable lunch bag.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5DCE3F24-E547-43F7-8B6E-AB9BFBD5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5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B6521658-C744-471A-86E5-21CBACB5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01AFA917-E0A8-4C33-AFC4-E7E69C52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Include at least six stages and one design opportunity at three stages.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AF9EC73D-58C4-4E73-AAB0-9766AA92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A0A6F645-541F-41CB-AA19-1445015F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At the… stage, the product… A better choice could…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36F1029B-9F81-4A13-AE0F-A84247C4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1195170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4BCC26C8-16E7-468C-8D80-9E3F7315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0A277F47-3028-4B86-9E81-9194E277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73281F9B-AE57-4808-ACE1-86154AC6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3  ·  SECTION 3.3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06A40C-2E94-42FC-9779-180644CB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3.3 Personal action with evidence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23A27B9-6136-4BBC-BB2F-F8220AFD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2EF6DFE3-7034-441E-B12C-ACE176C4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8C94D9AB-A187-450D-9A9B-76A9D740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A05BED8F-ED7E-4BD5-94A5-6D51B1E5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Personal action is strongest when it is specific and measurable.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4347DA8E-41B5-4BC2-961F-D7D450E9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EC41B2DE-076B-47D7-B4F8-0BD4786F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AF6ACF52-E12C-44A9-9609-A886CE7D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Examples include using a reusable lunch bag regularly, replacing disposable wrap with an approved reusable option, planning food portions and caring for products so t…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C09FBC70-E042-468A-807C-02746DF5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95A48034-DC3A-477E-91AC-7F4A1A02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8F191EBA-BC24-4BF4-A6C0-9E8F69DE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Avoid vague claims such as “this saves the planet”.</a:t>
            </a:r>
          </a:p>
        </p:txBody>
      </p:sp>
    </p:spTree>
    <p:extLst>
      <p:ext uri="{BB962C8B-B14F-4D97-AF65-F5344CB8AC3E}">
        <p14:creationId xmlns:p14="http://schemas.microsoft.com/office/powerpoint/2010/main" val="11796786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4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06B4F338-8E74-4275-B415-102450F8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DEA66BAC-D8A2-4901-85E0-7395EBC0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3 REVIEW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E9A1F781-FB9F-4ED2-816C-D60F65FD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Show what you understand.</a:t>
            </a:r>
          </a:p>
        </p:txBody>
      </p:sp>
      <p:sp>
        <p:nvSpPr>
          <p:cNvPr id="4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0723AB6A-0217-49B5-8A65-9B7AD617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1. Revisit all three theory sections.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2. Complete 30 knowledge checks and three guided responses.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3. Continue Project Activity 3 and keep authentic evidence.</a:t>
            </a:r>
          </a:p>
        </p:txBody>
      </p:sp>
      <p:sp>
        <p:nvSpPr>
          <p:cNvPr id="5" name="closing-boundary">
            <a:extLst xmlns:a="http://schemas.openxmlformats.org/drawingml/2006/main">
              <a:ext uri="{FF2B5EF4-FFF2-40B4-BE49-F238E27FC236}">
                <a16:creationId xmlns:a16="http://schemas.microsoft.com/office/drawing/2014/main" id="{5D55A254-3FAC-42CC-B2E1-18BDB005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98B"/>
                </a:solidFill>
              </a:defRPr>
            </a:pPr>
            <a:r>
              <a:rPr sz="1500" b="1">
                <a:solidFill>
                  <a:srgbClr val="FFD98B"/>
                </a:solidFill>
              </a:rPr>
              <a:t>Exact practical instructions and formal submission arrangements: Teacher to confirm.</a:t>
            </a:r>
          </a:p>
        </p:txBody>
      </p:sp>
    </p:spTree>
    <p:extLst>
      <p:ext uri="{BB962C8B-B14F-4D97-AF65-F5344CB8AC3E}">
        <p14:creationId xmlns:p14="http://schemas.microsoft.com/office/powerpoint/2010/main" val="1852388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2026-08-11T11:10:34.7630000Z</dcterms:created>
  <dcterms:modified xsi:type="dcterms:W3CDTF">2026-08-11T11:10:34.7630000Z</dcterms:modified>
</coreProperties>
</file>