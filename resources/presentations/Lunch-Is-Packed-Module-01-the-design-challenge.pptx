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971119cf55b49d4" /><Relationship Type="http://schemas.openxmlformats.org/officeDocument/2006/relationships/extended-properties" Target="/docProps/app.xml" Id="R4e23d216f8734af4" /><Relationship Type="http://schemas.openxmlformats.org/officeDocument/2006/relationships/officeDocument" Target="/ppt/presentation.xml" Id="R2ecd619bd0ae4cb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29ab91fefe54cc7"/>
  </p:sldMasterIdLst>
  <p:notesMasterIdLst>
    <p:notesMasterId xmlns:r="http://schemas.openxmlformats.org/officeDocument/2006/relationships" r:id="R458ade37f74c4c40"/>
  </p:notesMasterIdLst>
  <p:sldIdLst>
    <p:sldId xmlns:r="http://schemas.openxmlformats.org/officeDocument/2006/relationships" id="256" r:id="Rf11b62b1e6b544c3"/>
    <p:sldId xmlns:r="http://schemas.openxmlformats.org/officeDocument/2006/relationships" id="257" r:id="R931de362d5df4067"/>
    <p:sldId xmlns:r="http://schemas.openxmlformats.org/officeDocument/2006/relationships" id="258" r:id="Rabc3192457a14a78"/>
    <p:sldId xmlns:r="http://schemas.openxmlformats.org/officeDocument/2006/relationships" id="259" r:id="Rc7f134025d344392"/>
    <p:sldId xmlns:r="http://schemas.openxmlformats.org/officeDocument/2006/relationships" id="260" r:id="Rcfe013c1ebcc4847"/>
    <p:sldId xmlns:r="http://schemas.openxmlformats.org/officeDocument/2006/relationships" id="261" r:id="Rea7997957a544539"/>
    <p:sldId xmlns:r="http://schemas.openxmlformats.org/officeDocument/2006/relationships" id="262" r:id="R8e77487941734ef3"/>
    <p:sldId xmlns:r="http://schemas.openxmlformats.org/officeDocument/2006/relationships" id="263" r:id="R3a222825472442f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154ac360f74574" /><Relationship Type="http://schemas.openxmlformats.org/officeDocument/2006/relationships/slideMaster" Target="/ppt/slideMasters/slideMaster1.xml" Id="Rc29ab91fefe54cc7" /><Relationship Type="http://schemas.openxmlformats.org/officeDocument/2006/relationships/notesMaster" Target="/ppt/notesMasters/notesMaster1.xml" Id="R458ade37f74c4c40" /><Relationship Type="http://schemas.openxmlformats.org/officeDocument/2006/relationships/presProps" Target="/ppt/presProps.xml" Id="R8b81c028dbe74915" /><Relationship Type="http://schemas.openxmlformats.org/officeDocument/2006/relationships/tableStyles" Target="/ppt/tableStyles.xml" Id="R0162217c12aa44e5" /><Relationship Type="http://schemas.openxmlformats.org/officeDocument/2006/relationships/slide" Target="/ppt/slides/slide1.xml" Id="Rf11b62b1e6b544c3" /><Relationship Type="http://schemas.openxmlformats.org/officeDocument/2006/relationships/slide" Target="/ppt/slides/slide2.xml" Id="R931de362d5df4067" /><Relationship Type="http://schemas.openxmlformats.org/officeDocument/2006/relationships/slide" Target="/ppt/slides/slide3.xml" Id="Rabc3192457a14a78" /><Relationship Type="http://schemas.openxmlformats.org/officeDocument/2006/relationships/slide" Target="/ppt/slides/slide4.xml" Id="Rc7f134025d344392" /><Relationship Type="http://schemas.openxmlformats.org/officeDocument/2006/relationships/slide" Target="/ppt/slides/slide5.xml" Id="Rcfe013c1ebcc4847" /><Relationship Type="http://schemas.openxmlformats.org/officeDocument/2006/relationships/slide" Target="/ppt/slides/slide6.xml" Id="Rea7997957a544539" /><Relationship Type="http://schemas.openxmlformats.org/officeDocument/2006/relationships/slide" Target="/ppt/slides/slide7.xml" Id="R8e77487941734ef3" /><Relationship Type="http://schemas.openxmlformats.org/officeDocument/2006/relationships/slide" Target="/ppt/slides/slide8.xml" Id="R3a222825472442f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895878116184d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109f236374a431d" /><Relationship Type="http://schemas.openxmlformats.org/officeDocument/2006/relationships/notesMaster" Target="/ppt/notesMasters/notesMaster1.xml" Id="R74d01af7862f4cd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8925fdffe194839" /><Relationship Type="http://schemas.openxmlformats.org/officeDocument/2006/relationships/notesMaster" Target="/ppt/notesMasters/notesMaster1.xml" Id="R17d701004ea84ca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4b0f5d0667f44f3" /><Relationship Type="http://schemas.openxmlformats.org/officeDocument/2006/relationships/notesMaster" Target="/ppt/notesMasters/notesMaster1.xml" Id="R2af46da65256402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a85c9f81a06407f" /><Relationship Type="http://schemas.openxmlformats.org/officeDocument/2006/relationships/notesMaster" Target="/ppt/notesMasters/notesMaster1.xml" Id="R21a9601c20614ad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9bea97f87a24fc4" /><Relationship Type="http://schemas.openxmlformats.org/officeDocument/2006/relationships/notesMaster" Target="/ppt/notesMasters/notesMaster1.xml" Id="R6cba7f608449437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1928413b9474a95" /><Relationship Type="http://schemas.openxmlformats.org/officeDocument/2006/relationships/notesMaster" Target="/ppt/notesMasters/notesMaster1.xml" Id="R18d39eae0c634c7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e76db806289404e" /><Relationship Type="http://schemas.openxmlformats.org/officeDocument/2006/relationships/notesMaster" Target="/ppt/notesMasters/notesMaster1.xml" Id="Rb754d9e4a151463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fef9b46dc114b46" /><Relationship Type="http://schemas.openxmlformats.org/officeDocument/2006/relationships/notesMaster" Target="/ppt/notesMasters/notesMaster1.xml" Id="Rae717400d95244a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connecting this module to the student project and current teacher instructions.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Students should write their own response. The website provides steps and an appropriate response example without revealing quiz answers.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Students should write their own response. The website provides steps and an appropriate response example without revealing quiz answers.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website module and project activity for the interactive evidence tasks.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e0e13864604c8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944284dd5af4601" /><Relationship Type="http://schemas.openxmlformats.org/officeDocument/2006/relationships/slideLayout" Target="/ppt/slideLayouts/slideLayout1.xml" Id="R1c3345f47a36429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c3345f47a36429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31b3d2ac1243f0" /><Relationship Type="http://schemas.openxmlformats.org/officeDocument/2006/relationships/image" Target="/ppt/media/image.png" Id="Rdf3f61a4a9b94fae" /><Relationship Type="http://schemas.openxmlformats.org/officeDocument/2006/relationships/notesSlide" Target="/ppt/notesSlides/notesSlide1.xml" Id="R711f3851ab2c470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979cef6ca449fd" /><Relationship Type="http://schemas.openxmlformats.org/officeDocument/2006/relationships/notesSlide" Target="/ppt/notesSlides/notesSlide2.xml" Id="R9c743ca994b14bb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541e78fec240e6" /><Relationship Type="http://schemas.openxmlformats.org/officeDocument/2006/relationships/notesSlide" Target="/ppt/notesSlides/notesSlide3.xml" Id="Rfb4b8a7bb77745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403bb47b994f30" /><Relationship Type="http://schemas.openxmlformats.org/officeDocument/2006/relationships/notesSlide" Target="/ppt/notesSlides/notesSlide4.xml" Id="R38d39d96729e4be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fff3eaab7d4fe2" /><Relationship Type="http://schemas.openxmlformats.org/officeDocument/2006/relationships/notesSlide" Target="/ppt/notesSlides/notesSlide5.xml" Id="R924c4798b7db47e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8dbb77f5ad4fbe" /><Relationship Type="http://schemas.openxmlformats.org/officeDocument/2006/relationships/notesSlide" Target="/ppt/notesSlides/notesSlide6.xml" Id="Rf4708efac4c046d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bc3e874c524f66" /><Relationship Type="http://schemas.openxmlformats.org/officeDocument/2006/relationships/notesSlide" Target="/ppt/notesSlides/notesSlide7.xml" Id="R5e8daaa00bc8472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9e3c9b6d364d26" /><Relationship Type="http://schemas.openxmlformats.org/officeDocument/2006/relationships/notesSlide" Target="/ppt/notesSlides/notesSlide8.xml" Id="R89bf7593731445f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-plane">
            <a:extLst xmlns:a="http://schemas.openxmlformats.org/drawingml/2006/main">
              <a:ext uri="{FF2B5EF4-FFF2-40B4-BE49-F238E27FC236}">
                <a16:creationId xmlns:a16="http://schemas.microsoft.com/office/drawing/2014/main" id="{8BC6545D-96FF-436C-90C9-06EF45A54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239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4C4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3f61a4a9b94fae"/>
          <a:srcRect xmlns:a="http://schemas.openxmlformats.org/drawingml/2006/main" l="24074" t="0" r="2407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0" y="0"/>
            <a:ext cx="5334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module-kicker">
            <a:extLst xmlns:a="http://schemas.openxmlformats.org/drawingml/2006/main">
              <a:ext uri="{FF2B5EF4-FFF2-40B4-BE49-F238E27FC236}">
                <a16:creationId xmlns:a16="http://schemas.microsoft.com/office/drawing/2014/main" id="{9B11BF61-F263-4B7A-8E97-9A5342DD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4953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0A53A"/>
                </a:solidFill>
              </a:defRPr>
            </a:pPr>
            <a:r>
              <a:rPr sz="1350" b="1">
                <a:solidFill>
                  <a:srgbClr val="E0A53A"/>
                </a:solidFill>
              </a:rPr>
              <a:t>MODULE 1 OF 10</a:t>
            </a:r>
          </a:p>
        </p:txBody>
      </p:sp>
      <p:sp>
        <p:nvSpPr>
          <p:cNvPr id="4" name="deck-title">
            <a:extLst xmlns:a="http://schemas.openxmlformats.org/drawingml/2006/main">
              <a:ext uri="{FF2B5EF4-FFF2-40B4-BE49-F238E27FC236}">
                <a16:creationId xmlns:a16="http://schemas.microsoft.com/office/drawing/2014/main" id="{D64375AE-C628-42D8-85E9-AFEDFCF62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56197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The design challenge</a:t>
            </a:r>
          </a:p>
        </p:txBody>
      </p:sp>
      <p:sp>
        <p:nvSpPr>
          <p:cNvPr id="5" name="deck-subtitle">
            <a:extLst xmlns:a="http://schemas.openxmlformats.org/drawingml/2006/main">
              <a:ext uri="{FF2B5EF4-FFF2-40B4-BE49-F238E27FC236}">
                <a16:creationId xmlns:a16="http://schemas.microsoft.com/office/drawing/2014/main" id="{DE47C9D5-39D2-463A-9B52-6FCAC215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5429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E6F2EF"/>
                </a:solidFill>
              </a:defRPr>
            </a:pPr>
            <a:r>
              <a:rPr sz="1875" b="0">
                <a:solidFill>
                  <a:srgbClr val="E6F2EF"/>
                </a:solidFill>
              </a:rPr>
              <a:t>Understand the need, user and evidence before designing a lunch bag.</a:t>
            </a:r>
          </a:p>
        </p:txBody>
      </p:sp>
      <p:sp>
        <p:nvSpPr>
          <p:cNvPr id="6" name="deck-footer">
            <a:extLst xmlns:a="http://schemas.openxmlformats.org/drawingml/2006/main">
              <a:ext uri="{FF2B5EF4-FFF2-40B4-BE49-F238E27FC236}">
                <a16:creationId xmlns:a16="http://schemas.microsoft.com/office/drawing/2014/main" id="{39744C0D-95B9-49D6-BD75-2ECEAF480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61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FD9D6"/>
                </a:solidFill>
              </a:defRPr>
            </a:pPr>
            <a:r>
              <a:rPr sz="1200" b="0">
                <a:solidFill>
                  <a:srgbClr val="BFD9D6"/>
                </a:solidFill>
              </a:rPr>
              <a:t>Year 7/8 Technology Mandatory · Student learning presentation</a:t>
            </a:r>
          </a:p>
        </p:txBody>
      </p:sp>
    </p:spTree>
    <p:extLst>
      <p:ext uri="{BB962C8B-B14F-4D97-AF65-F5344CB8AC3E}">
        <p14:creationId xmlns:p14="http://schemas.microsoft.com/office/powerpoint/2010/main" val="14550611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0E5384A5-F2CB-4B7C-8621-0494B1EC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24DD590C-D8AB-438B-995F-3C5DD766A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AEBDB0DD-FDB9-4954-BC46-FD1314C02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1  ·  LEARNING PATH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5CDE0B3-919B-4341-BA63-AB5A1A9B6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Three ideas build one design decision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6DD6ADD-15AC-4E99-AB51-67A4C2B65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Read, notice, explain and apply each section in order.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B583A1A9-6B24-4EDA-8F7A-AD388ED1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9504D077-C05C-4332-BB36-D387039DF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46C8A19E-ABC4-4A8D-B939-BE178D38D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1.1 Need statement and design brief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7005C759-C7C8-4E81-95F6-1AA15A35F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B57D745E-A3C6-4A1D-BEBA-2727A9505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73825727-957E-43D9-913D-AC3E0EB03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1.2 Users and real needs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5BA83B46-1669-48E4-B7DA-E93857D5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716BE794-F16B-458C-A3A8-736D8F43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81564E69-8A48-45A7-ABC0-C689A398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1.3 Criteria, constraints and evidence</a:t>
            </a:r>
          </a:p>
        </p:txBody>
      </p:sp>
    </p:spTree>
    <p:extLst>
      <p:ext uri="{BB962C8B-B14F-4D97-AF65-F5344CB8AC3E}">
        <p14:creationId xmlns:p14="http://schemas.microsoft.com/office/powerpoint/2010/main" val="118328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4388DBFC-50B4-4EF0-AE7D-5412F5E75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4B081F11-7069-4E31-88B6-6E6CADF7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8962665E-8EF4-4B7A-B72A-75A7812E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1  ·  SECTION 1.1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B502C03-347C-421E-A5F3-96F66C154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1.1 Need statement and design brief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D6534F9-BF63-46CF-8891-8E70D8C97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F81878FA-16CF-432E-8E4F-A13ED5FF8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79851C2A-FBE6-4656-9474-CCF18ECCF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0F164382-AFA2-4FA6-BD48-0C7D20AB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A need statement explains the problem or opportunity.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9FCCC4DA-3DEB-4603-B052-2C154A2A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61133C08-29BA-40FC-A711-0A453F65B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033F06CF-923D-4208-A662-C215CE28F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It identifies the product, intended user and important qualities without locking the designer into one answer.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0309867E-C53B-443E-9731-1F91235AA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341079D4-99FD-4C04-9223-04C38F471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93CB0C64-8520-447A-A81B-F603DEB85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Ask: What must this solution achieve, and what is still mine to decide?</a:t>
            </a:r>
          </a:p>
        </p:txBody>
      </p:sp>
    </p:spTree>
    <p:extLst>
      <p:ext uri="{BB962C8B-B14F-4D97-AF65-F5344CB8AC3E}">
        <p14:creationId xmlns:p14="http://schemas.microsoft.com/office/powerpoint/2010/main" val="5978378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D4A10092-8DF1-47C7-A56D-183E7F04E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66F7C72B-D703-4C8B-8E6C-85563A26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FAF7A826-4B70-450A-AE5B-6042146BF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1  ·  APPLY THE THEORY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E7E48C0-484F-4096-A68A-7B61F3BF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Make the theory visible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31B3C2D-6ADC-462F-AFEF-2FAB98736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Rewrite the Lunch Is Packed design brief in your own words.</a:t>
            </a:r>
          </a:p>
        </p:txBody>
      </p:sp>
      <p:sp>
        <p:nvSpPr>
          <p:cNvPr id="6" name="prompt-accent">
            <a:extLst xmlns:a="http://schemas.openxmlformats.org/drawingml/2006/main">
              <a:ext uri="{FF2B5EF4-FFF2-40B4-BE49-F238E27FC236}">
                <a16:creationId xmlns:a16="http://schemas.microsoft.com/office/drawing/2014/main" id="{E65A9232-A59A-4A1B-91B7-DDC25D5B1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143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lain-language">
            <a:extLst xmlns:a="http://schemas.openxmlformats.org/drawingml/2006/main">
              <a:ext uri="{FF2B5EF4-FFF2-40B4-BE49-F238E27FC236}">
                <a16:creationId xmlns:a16="http://schemas.microsoft.com/office/drawing/2014/main" id="{3E0D55D6-C407-43D2-89E7-DDB584E5D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050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B67"/>
                </a:solidFill>
              </a:defRPr>
            </a:pPr>
            <a:r>
              <a:rPr sz="1275" b="1">
                <a:solidFill>
                  <a:srgbClr val="176B67"/>
                </a:solidFill>
              </a:rPr>
              <a:t>WHAT THIS IS ASKING</a:t>
            </a:r>
          </a:p>
        </p:txBody>
      </p:sp>
      <p:sp>
        <p:nvSpPr>
          <p:cNvPr id="8" name="clarify">
            <a:extLst xmlns:a="http://schemas.openxmlformats.org/drawingml/2006/main">
              <a:ext uri="{FF2B5EF4-FFF2-40B4-BE49-F238E27FC236}">
                <a16:creationId xmlns:a16="http://schemas.microsoft.com/office/drawing/2014/main" id="{01DA18C1-835A-4DD6-ABF5-4F06E50DE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1462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A"/>
                </a:solidFill>
              </a:defRPr>
            </a:pPr>
            <a:r>
              <a:rPr sz="1800" b="0">
                <a:solidFill>
                  <a:srgbClr val="16343A"/>
                </a:solidFill>
              </a:rPr>
              <a:t>Name the product, intended user and important qualities without inventing dimensions or materials.</a:t>
            </a:r>
          </a:p>
        </p:txBody>
      </p:sp>
      <p:sp>
        <p:nvSpPr>
          <p:cNvPr id="9" name="starter-label">
            <a:extLst xmlns:a="http://schemas.openxmlformats.org/drawingml/2006/main">
              <a:ext uri="{FF2B5EF4-FFF2-40B4-BE49-F238E27FC236}">
                <a16:creationId xmlns:a16="http://schemas.microsoft.com/office/drawing/2014/main" id="{C80C85A3-A272-40B2-B071-41B487D79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5762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95543"/>
                </a:solidFill>
              </a:defRPr>
            </a:pPr>
            <a:r>
              <a:rPr sz="1275" b="1">
                <a:solidFill>
                  <a:srgbClr val="B95543"/>
                </a:solidFill>
              </a:rPr>
              <a:t>STARTER</a:t>
            </a:r>
          </a:p>
        </p:txBody>
      </p:sp>
      <p:sp>
        <p:nvSpPr>
          <p:cNvPr id="10" name="starter">
            <a:extLst xmlns:a="http://schemas.openxmlformats.org/drawingml/2006/main">
              <a:ext uri="{FF2B5EF4-FFF2-40B4-BE49-F238E27FC236}">
                <a16:creationId xmlns:a16="http://schemas.microsoft.com/office/drawing/2014/main" id="{A132CE69-C934-4A33-A223-2378BC9F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The task is to design a reusable lunch bag for… It needs to…</a:t>
            </a:r>
          </a:p>
        </p:txBody>
      </p:sp>
      <p:sp>
        <p:nvSpPr>
          <p:cNvPr id="11" name="action">
            <a:extLst xmlns:a="http://schemas.openxmlformats.org/drawingml/2006/main">
              <a:ext uri="{FF2B5EF4-FFF2-40B4-BE49-F238E27FC236}">
                <a16:creationId xmlns:a16="http://schemas.microsoft.com/office/drawing/2014/main" id="{0108B306-74D1-4522-9E55-F2F3D4738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15000"/>
            <a:ext cx="990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76A"/>
                </a:solidFill>
              </a:defRPr>
            </a:pPr>
            <a:r>
              <a:rPr sz="1350" b="1">
                <a:solidFill>
                  <a:srgbClr val="52676A"/>
                </a:solidFill>
              </a:rPr>
              <a:t>Return to the matching website section, complete the ten checks, then save your response.</a:t>
            </a:r>
          </a:p>
        </p:txBody>
      </p:sp>
    </p:spTree>
    <p:extLst>
      <p:ext uri="{BB962C8B-B14F-4D97-AF65-F5344CB8AC3E}">
        <p14:creationId xmlns:p14="http://schemas.microsoft.com/office/powerpoint/2010/main" val="768379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6F2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05FBCB88-2786-4562-B1A9-574B1DC48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9A4660AC-2A56-4803-9261-61FE4CA9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C6CE030C-0408-4655-824E-C9AEA1013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1  ·  SECTION 1.2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365F731-D554-412B-9155-27F6D532A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1.2 Users and real needs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A78E181-95ED-4957-90FE-38BA0F824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733344AB-E299-4171-9EFD-D5EC46983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639FA651-C59C-43AC-ADD2-4B6AE55CD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2C4BEE11-CC1C-4FAB-B952-3779BB8BE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Good design begins with people.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4D3BD16C-0F72-4FF8-8E77-6806D2026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31AF120F-BF83-4063-A435-B7B039767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D16FB895-BF70-4CC5-BE4A-30D7DBB90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Before lunch, the bag must be packed and carried.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BB319A1A-A175-403A-BD50-4B10A3884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40891DC0-8F73-47E5-82CA-736E9FBA3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076B8F0B-04B5-4533-AF0A-BB7F4F8A9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This prevents a design from becoming a collection of untested extras.</a:t>
            </a:r>
          </a:p>
        </p:txBody>
      </p:sp>
    </p:spTree>
    <p:extLst>
      <p:ext uri="{BB962C8B-B14F-4D97-AF65-F5344CB8AC3E}">
        <p14:creationId xmlns:p14="http://schemas.microsoft.com/office/powerpoint/2010/main" val="1706535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BB09B168-A674-4EBD-887E-F135FF36A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5F8BE095-522A-4AF7-B0FD-7D7EECC69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49AFDF8D-01E4-44AE-9A87-D22802C0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1  ·  APPLY THE THEORY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F083FFC-20EA-4E8D-91BD-C17E26355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Use evidence, not guesses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3C4B3CA-A35C-42AF-A802-77E2511A1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Explain four user needs and two maker needs for this project.</a:t>
            </a:r>
          </a:p>
        </p:txBody>
      </p:sp>
      <p:sp>
        <p:nvSpPr>
          <p:cNvPr id="6" name="prompt-accent">
            <a:extLst xmlns:a="http://schemas.openxmlformats.org/drawingml/2006/main">
              <a:ext uri="{FF2B5EF4-FFF2-40B4-BE49-F238E27FC236}">
                <a16:creationId xmlns:a16="http://schemas.microsoft.com/office/drawing/2014/main" id="{6EBC205F-E3B1-4B60-8AD2-4E050A47C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143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55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lain-language">
            <a:extLst xmlns:a="http://schemas.openxmlformats.org/drawingml/2006/main">
              <a:ext uri="{FF2B5EF4-FFF2-40B4-BE49-F238E27FC236}">
                <a16:creationId xmlns:a16="http://schemas.microsoft.com/office/drawing/2014/main" id="{BC2D100D-E948-4878-BC2C-D2A981F84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050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B67"/>
                </a:solidFill>
              </a:defRPr>
            </a:pPr>
            <a:r>
              <a:rPr sz="1275" b="1">
                <a:solidFill>
                  <a:srgbClr val="176B67"/>
                </a:solidFill>
              </a:rPr>
              <a:t>WHAT THIS IS ASKING</a:t>
            </a:r>
          </a:p>
        </p:txBody>
      </p:sp>
      <p:sp>
        <p:nvSpPr>
          <p:cNvPr id="8" name="clarify">
            <a:extLst xmlns:a="http://schemas.openxmlformats.org/drawingml/2006/main">
              <a:ext uri="{FF2B5EF4-FFF2-40B4-BE49-F238E27FC236}">
                <a16:creationId xmlns:a16="http://schemas.microsoft.com/office/drawing/2014/main" id="{3622B9E7-2A5D-402A-9138-E3DACFF3A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1462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A"/>
                </a:solidFill>
              </a:defRPr>
            </a:pPr>
            <a:r>
              <a:rPr sz="1800" b="0">
                <a:solidFill>
                  <a:srgbClr val="16343A"/>
                </a:solidFill>
              </a:rPr>
              <a:t>Name what the student using the bag requires and what the student making it requires.</a:t>
            </a:r>
          </a:p>
        </p:txBody>
      </p:sp>
      <p:sp>
        <p:nvSpPr>
          <p:cNvPr id="9" name="starter-label">
            <a:extLst xmlns:a="http://schemas.openxmlformats.org/drawingml/2006/main">
              <a:ext uri="{FF2B5EF4-FFF2-40B4-BE49-F238E27FC236}">
                <a16:creationId xmlns:a16="http://schemas.microsoft.com/office/drawing/2014/main" id="{CF28BD5B-7EDC-4BDD-9512-9F23089DF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5762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95543"/>
                </a:solidFill>
              </a:defRPr>
            </a:pPr>
            <a:r>
              <a:rPr sz="1275" b="1">
                <a:solidFill>
                  <a:srgbClr val="B95543"/>
                </a:solidFill>
              </a:rPr>
              <a:t>STARTER</a:t>
            </a:r>
          </a:p>
        </p:txBody>
      </p:sp>
      <p:sp>
        <p:nvSpPr>
          <p:cNvPr id="10" name="starter">
            <a:extLst xmlns:a="http://schemas.openxmlformats.org/drawingml/2006/main">
              <a:ext uri="{FF2B5EF4-FFF2-40B4-BE49-F238E27FC236}">
                <a16:creationId xmlns:a16="http://schemas.microsoft.com/office/drawing/2014/main" id="{942B1464-D390-4C5D-93C9-7EF9D2EEE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The intended user needs… The maker needs…</a:t>
            </a:r>
          </a:p>
        </p:txBody>
      </p:sp>
      <p:sp>
        <p:nvSpPr>
          <p:cNvPr id="11" name="action">
            <a:extLst xmlns:a="http://schemas.openxmlformats.org/drawingml/2006/main">
              <a:ext uri="{FF2B5EF4-FFF2-40B4-BE49-F238E27FC236}">
                <a16:creationId xmlns:a16="http://schemas.microsoft.com/office/drawing/2014/main" id="{0B702656-784F-4EF8-9B07-0A9EC2456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15000"/>
            <a:ext cx="990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76A"/>
                </a:solidFill>
              </a:defRPr>
            </a:pPr>
            <a:r>
              <a:rPr sz="1350" b="1">
                <a:solidFill>
                  <a:srgbClr val="52676A"/>
                </a:solidFill>
              </a:rPr>
              <a:t>Return to the matching website section, complete the ten checks, then save your response.</a:t>
            </a:r>
          </a:p>
        </p:txBody>
      </p:sp>
    </p:spTree>
    <p:extLst>
      <p:ext uri="{BB962C8B-B14F-4D97-AF65-F5344CB8AC3E}">
        <p14:creationId xmlns:p14="http://schemas.microsoft.com/office/powerpoint/2010/main" val="17170318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50C850F2-1907-4A0B-99A6-16FDB0D62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6945B79B-B051-4F57-9EE2-3CC7D0897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1516F30B-7EFC-4C22-B8DD-615A9B6B7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1  ·  SECTION 1.3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376A61B-4CA7-43E9-B539-3CC9914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1.3 Criteria, constraints and evidence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B43E658-B1E0-4D68-8123-8E09BE54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DF307BCA-AB88-4296-9196-FA3283D93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020780AD-4EF5-4B8A-B025-179A8896E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A7727B0F-8725-4A7B-BB6B-B454F7EF3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Criteria describe how success will be judged.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CA31709D-656D-4E93-846E-4D0D208A5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036558A2-32E5-411B-81D7-AECEE0673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F6210ADA-4042-43F7-8509-8DD6DE19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Strong criteria name a feature, an expected performance and a way to observe it.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7EDC2B22-A631-4541-9D0C-08C1432B8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614D98CC-9A97-45B0-91BA-2CFD876F3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89680739-0BAB-4AB3-993C-9CBF98E7F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Constraints should describe actual boundaries, not excuses.</a:t>
            </a:r>
          </a:p>
        </p:txBody>
      </p:sp>
    </p:spTree>
    <p:extLst>
      <p:ext uri="{BB962C8B-B14F-4D97-AF65-F5344CB8AC3E}">
        <p14:creationId xmlns:p14="http://schemas.microsoft.com/office/powerpoint/2010/main" val="200202731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4C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losing-rule">
            <a:extLst xmlns:a="http://schemas.openxmlformats.org/drawingml/2006/main">
              <a:ext uri="{FF2B5EF4-FFF2-40B4-BE49-F238E27FC236}">
                <a16:creationId xmlns:a16="http://schemas.microsoft.com/office/drawing/2014/main" id="{B4CA30FC-171F-40BB-B01F-16EB2D67E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losing-kicker">
            <a:extLst xmlns:a="http://schemas.openxmlformats.org/drawingml/2006/main">
              <a:ext uri="{FF2B5EF4-FFF2-40B4-BE49-F238E27FC236}">
                <a16:creationId xmlns:a16="http://schemas.microsoft.com/office/drawing/2014/main" id="{12E6BE27-0F9B-4642-B263-C0EC4FC00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0A53A"/>
                </a:solidFill>
              </a:defRPr>
            </a:pPr>
            <a:r>
              <a:rPr sz="1350" b="1">
                <a:solidFill>
                  <a:srgbClr val="E0A53A"/>
                </a:solidFill>
              </a:rPr>
              <a:t>MODULE 1 REVIEW</a:t>
            </a:r>
          </a:p>
        </p:txBody>
      </p:sp>
      <p:sp>
        <p:nvSpPr>
          <p:cNvPr id="3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08A87D19-4F63-4FBB-B6D5-A15671B6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620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Show what you understand.</a:t>
            </a:r>
          </a:p>
        </p:txBody>
      </p:sp>
      <p:sp>
        <p:nvSpPr>
          <p:cNvPr id="4" name="closing-copy">
            <a:extLst xmlns:a="http://schemas.openxmlformats.org/drawingml/2006/main">
              <a:ext uri="{FF2B5EF4-FFF2-40B4-BE49-F238E27FC236}">
                <a16:creationId xmlns:a16="http://schemas.microsoft.com/office/drawing/2014/main" id="{D03B75C9-709B-43A9-83F7-AFB5C55B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857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1. Revisit all three theory sections.</a:t>
            </a:r>
          </a:p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2. Complete 30 knowledge checks and three guided responses.</a:t>
            </a:r>
          </a:p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3. Continue the Design brief evidence lab and keep authentic evidence.</a:t>
            </a:r>
          </a:p>
        </p:txBody>
      </p:sp>
      <p:sp>
        <p:nvSpPr>
          <p:cNvPr id="5" name="closing-boundary">
            <a:extLst xmlns:a="http://schemas.openxmlformats.org/drawingml/2006/main">
              <a:ext uri="{FF2B5EF4-FFF2-40B4-BE49-F238E27FC236}">
                <a16:creationId xmlns:a16="http://schemas.microsoft.com/office/drawing/2014/main" id="{70F6BEF2-4EA9-4023-BE35-B9F6D1CEA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D98B"/>
                </a:solidFill>
              </a:defRPr>
            </a:pPr>
            <a:r>
              <a:rPr sz="1500" b="1">
                <a:solidFill>
                  <a:srgbClr val="FFD98B"/>
                </a:solidFill>
              </a:rPr>
              <a:t>Exact practical instructions and formal submission arrangements: Teacher to confirm.</a:t>
            </a:r>
          </a:p>
        </p:txBody>
      </p:sp>
    </p:spTree>
    <p:extLst>
      <p:ext uri="{BB962C8B-B14F-4D97-AF65-F5344CB8AC3E}">
        <p14:creationId xmlns:p14="http://schemas.microsoft.com/office/powerpoint/2010/main" val="16321210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2026-08-11T12:15:37.1080000Z</dcterms:created>
  <dcterms:modified xsi:type="dcterms:W3CDTF">2026-08-11T12:15:37.1090000Z</dcterms:modified>
</coreProperties>
</file>