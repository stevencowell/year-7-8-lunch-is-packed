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7b59ba116a14fd3" /><Relationship Type="http://schemas.openxmlformats.org/officeDocument/2006/relationships/extended-properties" Target="/docProps/app.xml" Id="Recdfd4fcaeef4954" /><Relationship Type="http://schemas.openxmlformats.org/officeDocument/2006/relationships/officeDocument" Target="/ppt/presentation.xml" Id="R4047271620a5420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e4bb144f7604306"/>
  </p:sldMasterIdLst>
  <p:notesMasterIdLst>
    <p:notesMasterId xmlns:r="http://schemas.openxmlformats.org/officeDocument/2006/relationships" r:id="R7a12f9980cac4672"/>
  </p:notesMasterIdLst>
  <p:sldIdLst>
    <p:sldId xmlns:r="http://schemas.openxmlformats.org/officeDocument/2006/relationships" id="256" r:id="Ra38f04b4abeb4d66"/>
    <p:sldId xmlns:r="http://schemas.openxmlformats.org/officeDocument/2006/relationships" id="257" r:id="R32a1727094f24c1f"/>
    <p:sldId xmlns:r="http://schemas.openxmlformats.org/officeDocument/2006/relationships" id="258" r:id="R74f4322760704d37"/>
    <p:sldId xmlns:r="http://schemas.openxmlformats.org/officeDocument/2006/relationships" id="259" r:id="R00267a8de9d7420d"/>
    <p:sldId xmlns:r="http://schemas.openxmlformats.org/officeDocument/2006/relationships" id="260" r:id="R1eba9752042d44bb"/>
    <p:sldId xmlns:r="http://schemas.openxmlformats.org/officeDocument/2006/relationships" id="261" r:id="R43edc9e56bab47aa"/>
    <p:sldId xmlns:r="http://schemas.openxmlformats.org/officeDocument/2006/relationships" id="262" r:id="R209725e8753b4c53"/>
    <p:sldId xmlns:r="http://schemas.openxmlformats.org/officeDocument/2006/relationships" id="263" r:id="Rc31e727463ee4f6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f70e40db35e43f1" /><Relationship Type="http://schemas.openxmlformats.org/officeDocument/2006/relationships/slideMaster" Target="/ppt/slideMasters/slideMaster1.xml" Id="R6e4bb144f7604306" /><Relationship Type="http://schemas.openxmlformats.org/officeDocument/2006/relationships/notesMaster" Target="/ppt/notesMasters/notesMaster1.xml" Id="R7a12f9980cac4672" /><Relationship Type="http://schemas.openxmlformats.org/officeDocument/2006/relationships/presProps" Target="/ppt/presProps.xml" Id="R168278210d9f460d" /><Relationship Type="http://schemas.openxmlformats.org/officeDocument/2006/relationships/tableStyles" Target="/ppt/tableStyles.xml" Id="R26bb3fdf27f04064" /><Relationship Type="http://schemas.openxmlformats.org/officeDocument/2006/relationships/slide" Target="/ppt/slides/slide1.xml" Id="Ra38f04b4abeb4d66" /><Relationship Type="http://schemas.openxmlformats.org/officeDocument/2006/relationships/slide" Target="/ppt/slides/slide2.xml" Id="R32a1727094f24c1f" /><Relationship Type="http://schemas.openxmlformats.org/officeDocument/2006/relationships/slide" Target="/ppt/slides/slide3.xml" Id="R74f4322760704d37" /><Relationship Type="http://schemas.openxmlformats.org/officeDocument/2006/relationships/slide" Target="/ppt/slides/slide4.xml" Id="R00267a8de9d7420d" /><Relationship Type="http://schemas.openxmlformats.org/officeDocument/2006/relationships/slide" Target="/ppt/slides/slide5.xml" Id="R1eba9752042d44bb" /><Relationship Type="http://schemas.openxmlformats.org/officeDocument/2006/relationships/slide" Target="/ppt/slides/slide6.xml" Id="R43edc9e56bab47aa" /><Relationship Type="http://schemas.openxmlformats.org/officeDocument/2006/relationships/slide" Target="/ppt/slides/slide7.xml" Id="R209725e8753b4c53" /><Relationship Type="http://schemas.openxmlformats.org/officeDocument/2006/relationships/slide" Target="/ppt/slides/slide8.xml" Id="Rc31e727463ee4f6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a883ac696d941e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293e75a6b1844dc" /><Relationship Type="http://schemas.openxmlformats.org/officeDocument/2006/relationships/notesMaster" Target="/ppt/notesMasters/notesMaster1.xml" Id="Rf0c43a2ec8944fd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a68364052e64cf3" /><Relationship Type="http://schemas.openxmlformats.org/officeDocument/2006/relationships/notesMaster" Target="/ppt/notesMasters/notesMaster1.xml" Id="R35c44e932de0487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628530e5f1a4380" /><Relationship Type="http://schemas.openxmlformats.org/officeDocument/2006/relationships/notesMaster" Target="/ppt/notesMasters/notesMaster1.xml" Id="R35e4a424f1a44c1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3a369ccfddb4405" /><Relationship Type="http://schemas.openxmlformats.org/officeDocument/2006/relationships/notesMaster" Target="/ppt/notesMasters/notesMaster1.xml" Id="Rb3a6f9738ed6437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08a56cdb5094a8d" /><Relationship Type="http://schemas.openxmlformats.org/officeDocument/2006/relationships/notesMaster" Target="/ppt/notesMasters/notesMaster1.xml" Id="Rdc339734baae49d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297120ee46a4ce4" /><Relationship Type="http://schemas.openxmlformats.org/officeDocument/2006/relationships/notesMaster" Target="/ppt/notesMasters/notesMaster1.xml" Id="Rd9153d10774a4ea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8b7d90a35164b45" /><Relationship Type="http://schemas.openxmlformats.org/officeDocument/2006/relationships/notesMaster" Target="/ppt/notesMasters/notesMaster1.xml" Id="Ra1b98a732e6b4af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d8bff672f3c46db" /><Relationship Type="http://schemas.openxmlformats.org/officeDocument/2006/relationships/notesMaster" Target="/ppt/notesMasters/notesMaster1.xml" Id="R0de11842c2bc4c3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connecting this module to the student project and current teacher instructions.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Students should write their own response. The website provides steps and an appropriate response example without revealing quiz answers.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Students should write their own response. The website provides steps and an appropriate response example without revealing quiz answers.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website module and project activity for the interactive evidence tasks.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f702e388a14e9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37526fb9665448d" /><Relationship Type="http://schemas.openxmlformats.org/officeDocument/2006/relationships/slideLayout" Target="/ppt/slideLayouts/slideLayout1.xml" Id="R7f38f15033c7462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f38f15033c7462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1060a516b54ac2" /><Relationship Type="http://schemas.openxmlformats.org/officeDocument/2006/relationships/image" Target="/ppt/media/image.png" Id="R3d508e3b49d74760" /><Relationship Type="http://schemas.openxmlformats.org/officeDocument/2006/relationships/notesSlide" Target="/ppt/notesSlides/notesSlide1.xml" Id="R189af88befe24e4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998b8e99884a25" /><Relationship Type="http://schemas.openxmlformats.org/officeDocument/2006/relationships/notesSlide" Target="/ppt/notesSlides/notesSlide2.xml" Id="R7e0771acdaad449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107e1fd1294714" /><Relationship Type="http://schemas.openxmlformats.org/officeDocument/2006/relationships/notesSlide" Target="/ppt/notesSlides/notesSlide3.xml" Id="Rb5fddf2af35d49d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a2250cf15c4dd3" /><Relationship Type="http://schemas.openxmlformats.org/officeDocument/2006/relationships/notesSlide" Target="/ppt/notesSlides/notesSlide4.xml" Id="R57aa1114c6d34a2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7d9b78c9da46a1" /><Relationship Type="http://schemas.openxmlformats.org/officeDocument/2006/relationships/notesSlide" Target="/ppt/notesSlides/notesSlide5.xml" Id="Rd9baff6ad1cd4e9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80caa5d8dd48fb" /><Relationship Type="http://schemas.openxmlformats.org/officeDocument/2006/relationships/notesSlide" Target="/ppt/notesSlides/notesSlide6.xml" Id="R333c85b5c9144eb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21c288203849cf" /><Relationship Type="http://schemas.openxmlformats.org/officeDocument/2006/relationships/notesSlide" Target="/ppt/notesSlides/notesSlide7.xml" Id="Rf42b1b11a2044ea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911a551b794c10" /><Relationship Type="http://schemas.openxmlformats.org/officeDocument/2006/relationships/notesSlide" Target="/ppt/notesSlides/notesSlide8.xml" Id="Rab74daec71db417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-plane">
            <a:extLst xmlns:a="http://schemas.openxmlformats.org/drawingml/2006/main">
              <a:ext uri="{FF2B5EF4-FFF2-40B4-BE49-F238E27FC236}">
                <a16:creationId xmlns:a16="http://schemas.microsoft.com/office/drawing/2014/main" id="{D820C53C-892B-4F5A-B7D0-DA91E8AEC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239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4C4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508e3b49d74760"/>
          <a:srcRect xmlns:a="http://schemas.openxmlformats.org/drawingml/2006/main" l="30134" t="0" r="3013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0" y="0"/>
            <a:ext cx="5334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module-kicker">
            <a:extLst xmlns:a="http://schemas.openxmlformats.org/drawingml/2006/main">
              <a:ext uri="{FF2B5EF4-FFF2-40B4-BE49-F238E27FC236}">
                <a16:creationId xmlns:a16="http://schemas.microsoft.com/office/drawing/2014/main" id="{36A66ED3-259E-4820-A458-245076FCE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4953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0A53A"/>
                </a:solidFill>
              </a:defRPr>
            </a:pPr>
            <a:r>
              <a:rPr sz="1350" b="1">
                <a:solidFill>
                  <a:srgbClr val="E0A53A"/>
                </a:solidFill>
              </a:rPr>
              <a:t>MODULE 7 OF 10</a:t>
            </a:r>
          </a:p>
        </p:txBody>
      </p:sp>
      <p:sp>
        <p:nvSpPr>
          <p:cNvPr id="4" name="deck-title">
            <a:extLst xmlns:a="http://schemas.openxmlformats.org/drawingml/2006/main">
              <a:ext uri="{FF2B5EF4-FFF2-40B4-BE49-F238E27FC236}">
                <a16:creationId xmlns:a16="http://schemas.microsoft.com/office/drawing/2014/main" id="{FFA62700-9CEC-4784-87A1-E1120201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56197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Set up and practise</a:t>
            </a:r>
          </a:p>
        </p:txBody>
      </p:sp>
      <p:sp>
        <p:nvSpPr>
          <p:cNvPr id="5" name="deck-subtitle">
            <a:extLst xmlns:a="http://schemas.openxmlformats.org/drawingml/2006/main">
              <a:ext uri="{FF2B5EF4-FFF2-40B4-BE49-F238E27FC236}">
                <a16:creationId xmlns:a16="http://schemas.microsoft.com/office/drawing/2014/main" id="{D65BEFF4-2ED4-4C2C-B7EE-8F65DE444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5429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E6F2EF"/>
                </a:solidFill>
              </a:defRPr>
            </a:pPr>
            <a:r>
              <a:rPr sz="1875" b="0">
                <a:solidFill>
                  <a:srgbClr val="E6F2EF"/>
                </a:solidFill>
              </a:rPr>
              <a:t>Build control before sewing the project pieces.</a:t>
            </a:r>
          </a:p>
        </p:txBody>
      </p:sp>
      <p:sp>
        <p:nvSpPr>
          <p:cNvPr id="6" name="deck-footer">
            <a:extLst xmlns:a="http://schemas.openxmlformats.org/drawingml/2006/main">
              <a:ext uri="{FF2B5EF4-FFF2-40B4-BE49-F238E27FC236}">
                <a16:creationId xmlns:a16="http://schemas.microsoft.com/office/drawing/2014/main" id="{2CB6B507-D14C-402A-BA29-D6D048365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61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FD9D6"/>
                </a:solidFill>
              </a:defRPr>
            </a:pPr>
            <a:r>
              <a:rPr sz="1200" b="0">
                <a:solidFill>
                  <a:srgbClr val="BFD9D6"/>
                </a:solidFill>
              </a:rPr>
              <a:t>Year 7/8 Technology Mandatory · Student learning presentation</a:t>
            </a:r>
          </a:p>
        </p:txBody>
      </p:sp>
    </p:spTree>
    <p:extLst>
      <p:ext uri="{BB962C8B-B14F-4D97-AF65-F5344CB8AC3E}">
        <p14:creationId xmlns:p14="http://schemas.microsoft.com/office/powerpoint/2010/main" val="133986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AF897018-33C9-47FE-886C-D4D0B54BD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1933BD79-9C97-4E44-A108-160096C8E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7AC37CC6-012A-4860-80EA-A141024BF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7  ·  LEARNING PATH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66A0313-47D0-4761-929D-A71CE2ED7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Three ideas build one design decision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CC706D2-E9EB-484A-943E-8BCC5301D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Read, notice, explain and apply each section in order.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D14BFEF2-7B2B-4303-B8BF-50E203AF6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1CEF0B5D-B8A9-45FF-B3FF-65936C9C5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00049FBC-E595-4ABF-BF94-0891F5A29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7.1 Threading and the bobbin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97966D83-F9E7-45C9-A176-B75EB029A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13261984-328A-4273-A973-F3E72B6F6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53E8ED1D-1762-4718-A3C2-83448BBA5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7.2 Starting, guiding and finishing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D8FC9AA4-8FA4-4A15-96B5-DD327F2A3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103E8ACE-4279-44B1-A4BB-5C5E63AF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5A78B922-E896-455B-B938-29661D876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7.3 Reading stitch quality</a:t>
            </a:r>
          </a:p>
        </p:txBody>
      </p:sp>
    </p:spTree>
    <p:extLst>
      <p:ext uri="{BB962C8B-B14F-4D97-AF65-F5344CB8AC3E}">
        <p14:creationId xmlns:p14="http://schemas.microsoft.com/office/powerpoint/2010/main" val="22454066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417BE20E-9CE2-45D4-AEB3-0B8C98474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CBB05F78-4BB9-4BCE-A725-8278C8AC3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0D6A88F9-407B-4EFC-AEA5-B35E9D88C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7  ·  SECTION 7.1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9BB1270-DFFF-4805-934E-4CDB76B6F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7.1 Threading and the bobbin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DCEB5F45-1F97-4789-BCFC-82DE5936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7B0B215C-630C-4F40-9021-F1BFE0CA2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DFDE1E9C-BFA3-4D30-9B1A-4C9380BC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FB4BB2C5-2F55-4469-9909-C8DDF835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A correct setup follows the machine’s approved thread path, places the bobbin in the correct orientation and brings both threads into the starting position.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A6EC7415-C7D4-483C-BC0D-C65A4BB1C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CA8E625F-BC5E-42C9-892C-2A6B2BF46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2530DE74-20E6-4279-8507-9940B806B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Missed guides, incorrect tension paths or a poorly seated bobbin can cause loose, tangled or uneven stitching.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670BB6BD-BC85-43C4-9BFE-662F89CFA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692DF6DA-D38B-4246-A8AA-345818746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699135CD-DAE4-492A-80E2-28454B9F0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Prepare the machine while it is switched off and ask for a check before sewing.</a:t>
            </a:r>
          </a:p>
        </p:txBody>
      </p:sp>
    </p:spTree>
    <p:extLst>
      <p:ext uri="{BB962C8B-B14F-4D97-AF65-F5344CB8AC3E}">
        <p14:creationId xmlns:p14="http://schemas.microsoft.com/office/powerpoint/2010/main" val="14234994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7ECDE982-CDBE-4DE0-B590-424F9A163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52BBD955-3D0B-4484-B7AB-2B1CEDA39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8A44403B-E706-4349-95F4-38C6EE063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7  ·  APPLY THE THEORY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53F2A7C-42F6-48E3-9C2C-D4912BC80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Make the theory visible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D771A2A9-DCB5-4E03-B254-CDF389C6A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Write a setup checklist for the classroom machine.</a:t>
            </a:r>
          </a:p>
        </p:txBody>
      </p:sp>
      <p:sp>
        <p:nvSpPr>
          <p:cNvPr id="6" name="prompt-accent">
            <a:extLst xmlns:a="http://schemas.openxmlformats.org/drawingml/2006/main">
              <a:ext uri="{FF2B5EF4-FFF2-40B4-BE49-F238E27FC236}">
                <a16:creationId xmlns:a16="http://schemas.microsoft.com/office/drawing/2014/main" id="{0DBEC6A0-EE80-437A-9B6E-8766F0649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143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lain-language">
            <a:extLst xmlns:a="http://schemas.openxmlformats.org/drawingml/2006/main">
              <a:ext uri="{FF2B5EF4-FFF2-40B4-BE49-F238E27FC236}">
                <a16:creationId xmlns:a16="http://schemas.microsoft.com/office/drawing/2014/main" id="{0BB61E29-3DC7-4845-8353-26FBD5354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050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B67"/>
                </a:solidFill>
              </a:defRPr>
            </a:pPr>
            <a:r>
              <a:rPr sz="1275" b="1">
                <a:solidFill>
                  <a:srgbClr val="176B67"/>
                </a:solidFill>
              </a:rPr>
              <a:t>WHAT THIS IS ASKING</a:t>
            </a:r>
          </a:p>
        </p:txBody>
      </p:sp>
      <p:sp>
        <p:nvSpPr>
          <p:cNvPr id="8" name="clarify">
            <a:extLst xmlns:a="http://schemas.openxmlformats.org/drawingml/2006/main">
              <a:ext uri="{FF2B5EF4-FFF2-40B4-BE49-F238E27FC236}">
                <a16:creationId xmlns:a16="http://schemas.microsoft.com/office/drawing/2014/main" id="{2A768E4E-A8D5-42E5-A00A-0A00B5EE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1462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A"/>
                </a:solidFill>
              </a:defRPr>
            </a:pPr>
            <a:r>
              <a:rPr sz="1800" b="0">
                <a:solidFill>
                  <a:srgbClr val="16343A"/>
                </a:solidFill>
              </a:rPr>
              <a:t>Use observed local steps and avoid claiming one universal thread path.</a:t>
            </a:r>
          </a:p>
        </p:txBody>
      </p:sp>
      <p:sp>
        <p:nvSpPr>
          <p:cNvPr id="9" name="starter-label">
            <a:extLst xmlns:a="http://schemas.openxmlformats.org/drawingml/2006/main">
              <a:ext uri="{FF2B5EF4-FFF2-40B4-BE49-F238E27FC236}">
                <a16:creationId xmlns:a16="http://schemas.microsoft.com/office/drawing/2014/main" id="{FEB87B3B-38D9-4D58-B2B9-81C58F324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5762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95543"/>
                </a:solidFill>
              </a:defRPr>
            </a:pPr>
            <a:r>
              <a:rPr sz="1275" b="1">
                <a:solidFill>
                  <a:srgbClr val="B95543"/>
                </a:solidFill>
              </a:rPr>
              <a:t>STARTER</a:t>
            </a:r>
          </a:p>
        </p:txBody>
      </p:sp>
      <p:sp>
        <p:nvSpPr>
          <p:cNvPr id="10" name="starter">
            <a:extLst xmlns:a="http://schemas.openxmlformats.org/drawingml/2006/main">
              <a:ext uri="{FF2B5EF4-FFF2-40B4-BE49-F238E27FC236}">
                <a16:creationId xmlns:a16="http://schemas.microsoft.com/office/drawing/2014/main" id="{1749EFDB-4D45-49D9-B87F-E1AF74659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With the machine switched off, I will…</a:t>
            </a:r>
          </a:p>
        </p:txBody>
      </p:sp>
      <p:sp>
        <p:nvSpPr>
          <p:cNvPr id="11" name="action">
            <a:extLst xmlns:a="http://schemas.openxmlformats.org/drawingml/2006/main">
              <a:ext uri="{FF2B5EF4-FFF2-40B4-BE49-F238E27FC236}">
                <a16:creationId xmlns:a16="http://schemas.microsoft.com/office/drawing/2014/main" id="{11B829D0-1CDB-4F9E-AC83-B36D73C88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15000"/>
            <a:ext cx="990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76A"/>
                </a:solidFill>
              </a:defRPr>
            </a:pPr>
            <a:r>
              <a:rPr sz="1350" b="1">
                <a:solidFill>
                  <a:srgbClr val="52676A"/>
                </a:solidFill>
              </a:rPr>
              <a:t>Return to the matching website section, complete the ten checks, then save your response.</a:t>
            </a:r>
          </a:p>
        </p:txBody>
      </p:sp>
    </p:spTree>
    <p:extLst>
      <p:ext uri="{BB962C8B-B14F-4D97-AF65-F5344CB8AC3E}">
        <p14:creationId xmlns:p14="http://schemas.microsoft.com/office/powerpoint/2010/main" val="143374876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6F2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8DE8D24F-B9F0-4E7D-8887-6E8FB8C66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15046289-F4E3-4EA6-AF7D-47757805F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697CFF5C-A152-4881-A7F9-A5A9C639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7  ·  SECTION 7.2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8EB8A0B-6B20-429B-ABE2-D56B8D7E1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7.2 Starting, guiding and finishing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B651457-6A9A-4E8E-A474-C71E9C78E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DCEABAC4-3182-452A-BC13-AAC01652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2C38D3EA-E708-4281-8F0C-128FF8268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30019193-1442-422F-844E-1D50BAAF4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Begin with the presser foot down, threads positioned as demonstrated and hands safely guiding the fabric.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B4826C8F-5FE9-4CE7-A1FB-7E7FDB182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33988C04-D845-4229-94F6-8E926805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4581AED5-90BB-408A-897D-D67E1430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Watch the seam guide rather than staring only at the needle.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D2C7D019-02B3-44B5-B0B5-35282D283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7462F0B5-AFBA-483C-BC9C-07718FF33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750525ED-8538-4FE9-A5E5-95F931BDE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Control speed so the fabric remains aligned.</a:t>
            </a:r>
          </a:p>
        </p:txBody>
      </p:sp>
    </p:spTree>
    <p:extLst>
      <p:ext uri="{BB962C8B-B14F-4D97-AF65-F5344CB8AC3E}">
        <p14:creationId xmlns:p14="http://schemas.microsoft.com/office/powerpoint/2010/main" val="15619140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0DAC2267-460C-42B3-920B-51D75DB84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740DF5FC-632B-4D07-A944-75C9BA477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0AFE6FBD-453F-475F-BE20-3AF45C61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7  ·  APPLY THE THEORY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AF058E5-10A1-4E09-B0A8-3EE411A24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Use evidence, not guesses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270C891-3B55-4C24-A955-090BB5EA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Explain how you will sew an accurate straight seam.</a:t>
            </a:r>
          </a:p>
        </p:txBody>
      </p:sp>
      <p:sp>
        <p:nvSpPr>
          <p:cNvPr id="6" name="prompt-accent">
            <a:extLst xmlns:a="http://schemas.openxmlformats.org/drawingml/2006/main">
              <a:ext uri="{FF2B5EF4-FFF2-40B4-BE49-F238E27FC236}">
                <a16:creationId xmlns:a16="http://schemas.microsoft.com/office/drawing/2014/main" id="{08561948-C874-4AB0-9BF7-616F3E855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143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55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lain-language">
            <a:extLst xmlns:a="http://schemas.openxmlformats.org/drawingml/2006/main">
              <a:ext uri="{FF2B5EF4-FFF2-40B4-BE49-F238E27FC236}">
                <a16:creationId xmlns:a16="http://schemas.microsoft.com/office/drawing/2014/main" id="{60141026-5DC9-45B6-90DB-65956D26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050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B67"/>
                </a:solidFill>
              </a:defRPr>
            </a:pPr>
            <a:r>
              <a:rPr sz="1275" b="1">
                <a:solidFill>
                  <a:srgbClr val="176B67"/>
                </a:solidFill>
              </a:rPr>
              <a:t>WHAT THIS IS ASKING</a:t>
            </a:r>
          </a:p>
        </p:txBody>
      </p:sp>
      <p:sp>
        <p:nvSpPr>
          <p:cNvPr id="8" name="clarify">
            <a:extLst xmlns:a="http://schemas.openxmlformats.org/drawingml/2006/main">
              <a:ext uri="{FF2B5EF4-FFF2-40B4-BE49-F238E27FC236}">
                <a16:creationId xmlns:a16="http://schemas.microsoft.com/office/drawing/2014/main" id="{69710812-6288-443B-8B41-47F1ECA43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1462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A"/>
                </a:solidFill>
              </a:defRPr>
            </a:pPr>
            <a:r>
              <a:rPr sz="1800" b="0">
                <a:solidFill>
                  <a:srgbClr val="16343A"/>
                </a:solidFill>
              </a:rPr>
              <a:t>Describe setup, hand position, visual focus, speed and finishing.</a:t>
            </a:r>
          </a:p>
        </p:txBody>
      </p:sp>
      <p:sp>
        <p:nvSpPr>
          <p:cNvPr id="9" name="starter-label">
            <a:extLst xmlns:a="http://schemas.openxmlformats.org/drawingml/2006/main">
              <a:ext uri="{FF2B5EF4-FFF2-40B4-BE49-F238E27FC236}">
                <a16:creationId xmlns:a16="http://schemas.microsoft.com/office/drawing/2014/main" id="{70C94C66-82C2-444C-A6FF-CF943FFB2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5762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95543"/>
                </a:solidFill>
              </a:defRPr>
            </a:pPr>
            <a:r>
              <a:rPr sz="1275" b="1">
                <a:solidFill>
                  <a:srgbClr val="B95543"/>
                </a:solidFill>
              </a:rPr>
              <a:t>STARTER</a:t>
            </a:r>
          </a:p>
        </p:txBody>
      </p:sp>
      <p:sp>
        <p:nvSpPr>
          <p:cNvPr id="10" name="starter">
            <a:extLst xmlns:a="http://schemas.openxmlformats.org/drawingml/2006/main">
              <a:ext uri="{FF2B5EF4-FFF2-40B4-BE49-F238E27FC236}">
                <a16:creationId xmlns:a16="http://schemas.microsoft.com/office/drawing/2014/main" id="{FF138873-F513-4E4E-9985-90ED6E62E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I will begin by… While sewing I will watch…</a:t>
            </a:r>
          </a:p>
        </p:txBody>
      </p:sp>
      <p:sp>
        <p:nvSpPr>
          <p:cNvPr id="11" name="action">
            <a:extLst xmlns:a="http://schemas.openxmlformats.org/drawingml/2006/main">
              <a:ext uri="{FF2B5EF4-FFF2-40B4-BE49-F238E27FC236}">
                <a16:creationId xmlns:a16="http://schemas.microsoft.com/office/drawing/2014/main" id="{7033C633-1679-4E3C-971E-97AA53CBB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15000"/>
            <a:ext cx="990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76A"/>
                </a:solidFill>
              </a:defRPr>
            </a:pPr>
            <a:r>
              <a:rPr sz="1350" b="1">
                <a:solidFill>
                  <a:srgbClr val="52676A"/>
                </a:solidFill>
              </a:rPr>
              <a:t>Return to the matching website section, complete the ten checks, then save your response.</a:t>
            </a:r>
          </a:p>
        </p:txBody>
      </p:sp>
    </p:spTree>
    <p:extLst>
      <p:ext uri="{BB962C8B-B14F-4D97-AF65-F5344CB8AC3E}">
        <p14:creationId xmlns:p14="http://schemas.microsoft.com/office/powerpoint/2010/main" val="17983507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20375C21-3352-4663-A273-ACD8288BA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619DB1F2-AB12-4CBF-ACD7-FACA4813C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1DC63DE8-42F3-4753-A7FB-1239D9AF5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7  ·  SECTION 7.3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5C89998-FAAD-4076-B3D0-1CFC866B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7.3 Reading stitch quality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212C630-9BBA-4C29-ADFA-4CE234186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F5209819-18E2-4D33-8EAA-5D858BD3E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B9B3BE76-5E4A-426D-984C-2DF0B3986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F2773B77-24D4-4423-AD79-A9CF23956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Balanced stitches look even on both sides of the fabric, without loops, puckering, skipped stitches or broken thread.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58507137-FADF-4362-978C-800039A07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A2B2E8C5-73D5-44F2-8347-704508F68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0C4FEB34-9955-42B1-81E8-329F5B4A2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Problems can come from threading, needle condition, bobbin placement, unsuitable settings or the way fabric is handled.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046D5F23-796B-46AC-B1ED-FA1B0FD61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2CD7FED3-3648-44CF-8226-1A5EF84CB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4E491A99-4AD6-4E63-A23A-95A5BD47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Stop when stitching changes unexpectedly.</a:t>
            </a:r>
          </a:p>
        </p:txBody>
      </p:sp>
    </p:spTree>
    <p:extLst>
      <p:ext uri="{BB962C8B-B14F-4D97-AF65-F5344CB8AC3E}">
        <p14:creationId xmlns:p14="http://schemas.microsoft.com/office/powerpoint/2010/main" val="5211006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4C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losing-rule">
            <a:extLst xmlns:a="http://schemas.openxmlformats.org/drawingml/2006/main">
              <a:ext uri="{FF2B5EF4-FFF2-40B4-BE49-F238E27FC236}">
                <a16:creationId xmlns:a16="http://schemas.microsoft.com/office/drawing/2014/main" id="{2834283A-AF85-48BC-B493-94F1A080E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losing-kicker">
            <a:extLst xmlns:a="http://schemas.openxmlformats.org/drawingml/2006/main">
              <a:ext uri="{FF2B5EF4-FFF2-40B4-BE49-F238E27FC236}">
                <a16:creationId xmlns:a16="http://schemas.microsoft.com/office/drawing/2014/main" id="{E533D68B-1606-47BB-806E-2841B8CE6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0A53A"/>
                </a:solidFill>
              </a:defRPr>
            </a:pPr>
            <a:r>
              <a:rPr sz="1350" b="1">
                <a:solidFill>
                  <a:srgbClr val="E0A53A"/>
                </a:solidFill>
              </a:rPr>
              <a:t>MODULE 7 REVIEW</a:t>
            </a:r>
          </a:p>
        </p:txBody>
      </p:sp>
      <p:sp>
        <p:nvSpPr>
          <p:cNvPr id="3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D1306379-5170-4EB8-9357-3E963E1EE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620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Show what you understand.</a:t>
            </a:r>
          </a:p>
        </p:txBody>
      </p:sp>
      <p:sp>
        <p:nvSpPr>
          <p:cNvPr id="4" name="closing-copy">
            <a:extLst xmlns:a="http://schemas.openxmlformats.org/drawingml/2006/main">
              <a:ext uri="{FF2B5EF4-FFF2-40B4-BE49-F238E27FC236}">
                <a16:creationId xmlns:a16="http://schemas.microsoft.com/office/drawing/2014/main" id="{CED5447B-8AE4-46A8-AE86-AE5183CB1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857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1. Revisit all three theory sections.</a:t>
            </a:r>
          </a:p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2. Complete 30 knowledge checks and three guided responses.</a:t>
            </a:r>
          </a:p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3. Continue Project Activity 7 and keep authentic evidence.</a:t>
            </a:r>
          </a:p>
        </p:txBody>
      </p:sp>
      <p:sp>
        <p:nvSpPr>
          <p:cNvPr id="5" name="closing-boundary">
            <a:extLst xmlns:a="http://schemas.openxmlformats.org/drawingml/2006/main">
              <a:ext uri="{FF2B5EF4-FFF2-40B4-BE49-F238E27FC236}">
                <a16:creationId xmlns:a16="http://schemas.microsoft.com/office/drawing/2014/main" id="{BCF6E1F5-80AC-40A0-AED4-248584DFC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D98B"/>
                </a:solidFill>
              </a:defRPr>
            </a:pPr>
            <a:r>
              <a:rPr sz="1500" b="1">
                <a:solidFill>
                  <a:srgbClr val="FFD98B"/>
                </a:solidFill>
              </a:rPr>
              <a:t>Exact practical instructions and formal submission arrangements: Teacher to confirm.</a:t>
            </a:r>
          </a:p>
        </p:txBody>
      </p:sp>
    </p:spTree>
    <p:extLst>
      <p:ext uri="{BB962C8B-B14F-4D97-AF65-F5344CB8AC3E}">
        <p14:creationId xmlns:p14="http://schemas.microsoft.com/office/powerpoint/2010/main" val="13391501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2026-08-11T11:10:37.9310000Z</dcterms:created>
  <dcterms:modified xsi:type="dcterms:W3CDTF">2026-08-11T11:10:37.9310000Z</dcterms:modified>
</coreProperties>
</file>